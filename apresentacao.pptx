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7" r:id="rId9"/>
    <p:sldId id="263" r:id="rId10"/>
    <p:sldId id="264" r:id="rId11"/>
    <p:sldId id="265" r:id="rId12"/>
    <p:sldId id="266" r:id="rId13"/>
    <p:sldId id="278" r:id="rId14"/>
    <p:sldId id="267" r:id="rId15"/>
    <p:sldId id="268" r:id="rId16"/>
    <p:sldId id="269" r:id="rId17"/>
    <p:sldId id="270" r:id="rId18"/>
    <p:sldId id="279" r:id="rId19"/>
    <p:sldId id="271" r:id="rId20"/>
    <p:sldId id="272" r:id="rId21"/>
    <p:sldId id="273" r:id="rId22"/>
    <p:sldId id="274" r:id="rId23"/>
    <p:sldId id="280" r:id="rId24"/>
    <p:sldId id="275" r:id="rId25"/>
    <p:sldId id="276" r:id="rId26"/>
  </p:sldIdLst>
  <p:sldSz cx="12192000" cy="6858000"/>
  <p:notesSz cx="6858000" cy="9144000"/>
  <p:embeddedFontLst>
    <p:embeddedFont>
      <p:font typeface="JetBrains Mono" panose="020B0604020202020204" charset="0"/>
      <p:regular r:id="rId27"/>
      <p:bold r:id="rId28"/>
      <p:italic r:id="rId29"/>
      <p:boldItalic r:id="rId30"/>
    </p:embeddedFont>
    <p:embeddedFont>
      <p:font typeface="Plus Jakarta Sans" panose="020B0604020202020204" charset="0"/>
      <p:regular r:id="rId31"/>
      <p:bold r:id="rId32"/>
      <p:italic r:id="rId33"/>
      <p:boldItalic r:id="rId31"/>
    </p:embeddedFont>
    <p:embeddedFont>
      <p:font typeface="Roboto Mono" panose="00000009000000000000" pitchFamily="49" charset="0"/>
      <p:regular r:id="rId34"/>
      <p:bold r:id="rId35"/>
      <p:italic r:id="rId36"/>
      <p:boldItalic r:id="rId37"/>
    </p:embeddedFont>
  </p:embeddedFontLst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F50765-7AD4-4B49-824F-FAA03006ED3F}" v="77" dt="2026-10-27T18:57:06.5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DDC6D5D-A00E-4AA9-84F2-364CBECE0EEA}" type="slidenum">
              <a:rPr lang="en-US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1400" b="0" u="none" strike="noStrike">
                <a:solidFill>
                  <a:srgbClr val="000000"/>
                </a:solidFill>
                <a:latin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lang="pt-BR" sz="1400" b="0" u="none" strike="noStrike">
                <a:solidFill>
                  <a:srgbClr val="000000"/>
                </a:solidFill>
                <a:latin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1400" b="0" u="none" strike="noStrike">
                <a:solidFill>
                  <a:srgbClr val="000000"/>
                </a:solidFill>
                <a:latin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lang="pt-BR" sz="1400" b="0" u="none" strike="noStrike">
                <a:solidFill>
                  <a:srgbClr val="000000"/>
                </a:solidFill>
                <a:latin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000" b="0" u="none" strike="noStrike">
                <a:solidFill>
                  <a:srgbClr val="000000"/>
                </a:solidFill>
                <a:latin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000" b="0" u="none" strike="noStrike">
                <a:solidFill>
                  <a:srgbClr val="000000"/>
                </a:solidFill>
                <a:latin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000" b="0" u="none" strike="noStrike">
                <a:solidFill>
                  <a:srgbClr val="000000"/>
                </a:solidFill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VERTICAL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3200" b="0" u="none" strike="noStrike">
                <a:solidFill>
                  <a:srgbClr val="000000"/>
                </a:solidFill>
                <a:latin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lang="pt-BR" sz="3200" b="0" u="none" strike="noStrike">
                <a:solidFill>
                  <a:srgbClr val="000000"/>
                </a:solidFill>
                <a:latin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3200" b="0" u="none" strike="noStrike">
                <a:solidFill>
                  <a:srgbClr val="000000"/>
                </a:solidFill>
                <a:latin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lang="pt-BR" sz="3200" b="0" u="none" strike="noStrike">
                <a:solidFill>
                  <a:srgbClr val="000000"/>
                </a:solidFill>
                <a:latin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3200" b="0" u="none" strike="noStrike">
                <a:solidFill>
                  <a:srgbClr val="000000"/>
                </a:solidFill>
                <a:latin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3200" b="0" u="none" strike="noStrike">
                <a:solidFill>
                  <a:srgbClr val="000000"/>
                </a:solidFill>
                <a:latin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3200" b="0" u="none" strike="noStrike">
                <a:solidFill>
                  <a:srgbClr val="000000"/>
                </a:solidFill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DCD0F9E-EF7E-4C26-8662-25A73F2263DD}" type="slidenum">
              <a:rPr lang="en-US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_TITLE_AND_VERTICAL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3200" b="0" u="none" strike="noStrike">
                <a:solidFill>
                  <a:srgbClr val="000000"/>
                </a:solidFill>
                <a:latin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lang="pt-BR" sz="3200" b="0" u="none" strike="noStrike">
                <a:solidFill>
                  <a:srgbClr val="000000"/>
                </a:solidFill>
                <a:latin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3200" b="0" u="none" strike="noStrike">
                <a:solidFill>
                  <a:srgbClr val="000000"/>
                </a:solidFill>
                <a:latin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lang="pt-BR" sz="3200" b="0" u="none" strike="noStrike">
                <a:solidFill>
                  <a:srgbClr val="000000"/>
                </a:solidFill>
                <a:latin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3200" b="0" u="none" strike="noStrike">
                <a:solidFill>
                  <a:srgbClr val="000000"/>
                </a:solidFill>
                <a:latin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3200" b="0" u="none" strike="noStrike">
                <a:solidFill>
                  <a:srgbClr val="000000"/>
                </a:solidFill>
                <a:latin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3200" b="0" u="none" strike="noStrike">
                <a:solidFill>
                  <a:srgbClr val="000000"/>
                </a:solidFill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7C18080-B33E-4073-8615-72D8F5AE8F78}" type="slidenum">
              <a:rPr lang="en-US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5CB9569-04AF-4288-8880-64CE52ABE7A3}" type="slidenum">
              <a:rPr lang="en-US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3200" b="0" u="none" strike="noStrike">
                <a:solidFill>
                  <a:srgbClr val="000000"/>
                </a:solidFill>
                <a:latin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lang="pt-BR" sz="3200" b="0" u="none" strike="noStrike">
                <a:solidFill>
                  <a:srgbClr val="000000"/>
                </a:solidFill>
                <a:latin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3200" b="0" u="none" strike="noStrike">
                <a:solidFill>
                  <a:srgbClr val="000000"/>
                </a:solidFill>
                <a:latin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lang="pt-BR" sz="3200" b="0" u="none" strike="noStrike">
                <a:solidFill>
                  <a:srgbClr val="000000"/>
                </a:solidFill>
                <a:latin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3200" b="0" u="none" strike="noStrike">
                <a:solidFill>
                  <a:srgbClr val="000000"/>
                </a:solidFill>
                <a:latin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3200" b="0" u="none" strike="noStrike">
                <a:solidFill>
                  <a:srgbClr val="000000"/>
                </a:solidFill>
                <a:latin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3200" b="0" u="none" strike="noStrike">
                <a:solidFill>
                  <a:srgbClr val="000000"/>
                </a:solidFill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F533E07-937E-4FED-8300-891295843456}" type="slidenum">
              <a:rPr lang="en-US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>
              <a:buNone/>
              <a:defRPr lang="pt-BR" sz="4000" b="0" u="none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000" b="0" u="none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000" b="0" u="none" strike="noStrike">
                <a:solidFill>
                  <a:srgbClr val="000000"/>
                </a:solidFill>
                <a:latin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lang="pt-BR" sz="2000" b="0" u="none" strike="noStrike">
                <a:solidFill>
                  <a:srgbClr val="000000"/>
                </a:solidFill>
                <a:latin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000" b="0" u="none" strike="noStrike">
                <a:solidFill>
                  <a:srgbClr val="000000"/>
                </a:solidFill>
                <a:latin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lang="pt-BR" sz="2000" b="0" u="none" strike="noStrike">
                <a:solidFill>
                  <a:srgbClr val="000000"/>
                </a:solidFill>
                <a:latin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000" b="0" u="none" strike="noStrike">
                <a:solidFill>
                  <a:srgbClr val="000000"/>
                </a:solidFill>
                <a:latin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000" b="0" u="none" strike="noStrike">
                <a:solidFill>
                  <a:srgbClr val="000000"/>
                </a:solidFill>
                <a:latin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000" b="0" u="none" strike="noStrike">
                <a:solidFill>
                  <a:srgbClr val="000000"/>
                </a:solidFill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A28B55B-FA15-48BA-860D-0231187503D9}" type="slidenum">
              <a:rPr lang="en-US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OBJECT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800" b="0" u="none" strike="noStrike">
                <a:solidFill>
                  <a:srgbClr val="000000"/>
                </a:solidFill>
                <a:latin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lang="pt-BR" sz="2800" b="0" u="none" strike="noStrike">
                <a:solidFill>
                  <a:srgbClr val="000000"/>
                </a:solidFill>
                <a:latin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800" b="0" u="none" strike="noStrike">
                <a:solidFill>
                  <a:srgbClr val="000000"/>
                </a:solidFill>
                <a:latin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lang="pt-BR" sz="2800" b="0" u="none" strike="noStrike">
                <a:solidFill>
                  <a:srgbClr val="000000"/>
                </a:solidFill>
                <a:latin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800" b="0" u="none" strike="noStrike">
                <a:solidFill>
                  <a:srgbClr val="000000"/>
                </a:solidFill>
                <a:latin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800" b="0" u="none" strike="noStrike">
                <a:solidFill>
                  <a:srgbClr val="000000"/>
                </a:solidFill>
                <a:latin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800" b="0" u="none" strike="noStrike">
                <a:solidFill>
                  <a:srgbClr val="000000"/>
                </a:solidFill>
                <a:latin typeface="Arial"/>
              </a:defRPr>
            </a:lvl7pPr>
          </a:lstStyle>
          <a:p>
            <a:pPr marL="457200" indent="-40644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800" b="0" u="none" strike="noStrike">
                <a:solidFill>
                  <a:srgbClr val="000000"/>
                </a:solidFill>
                <a:latin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lang="pt-BR" sz="2800" b="0" u="none" strike="noStrike">
                <a:solidFill>
                  <a:srgbClr val="000000"/>
                </a:solidFill>
                <a:latin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800" b="0" u="none" strike="noStrike">
                <a:solidFill>
                  <a:srgbClr val="000000"/>
                </a:solidFill>
                <a:latin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lang="pt-BR" sz="2800" b="0" u="none" strike="noStrike">
                <a:solidFill>
                  <a:srgbClr val="000000"/>
                </a:solidFill>
                <a:latin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800" b="0" u="none" strike="noStrike">
                <a:solidFill>
                  <a:srgbClr val="000000"/>
                </a:solidFill>
                <a:latin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800" b="0" u="none" strike="noStrike">
                <a:solidFill>
                  <a:srgbClr val="000000"/>
                </a:solidFill>
                <a:latin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800" b="0" u="none" strike="noStrike">
                <a:solidFill>
                  <a:srgbClr val="000000"/>
                </a:solidFill>
                <a:latin typeface="Arial"/>
              </a:defRPr>
            </a:lvl7pPr>
          </a:lstStyle>
          <a:p>
            <a:pPr marL="457200" indent="-40644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34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35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36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0E0EBC0-ADA9-4FA7-889C-9287646BC794}" type="slidenum">
              <a:rPr lang="en-US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_OBJECTS_WITH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400" b="0" u="none" strike="noStrike">
                <a:solidFill>
                  <a:srgbClr val="000000"/>
                </a:solidFill>
                <a:latin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lang="pt-BR" sz="2400" b="0" u="none" strike="noStrike">
                <a:solidFill>
                  <a:srgbClr val="000000"/>
                </a:solidFill>
                <a:latin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400" b="0" u="none" strike="noStrike">
                <a:solidFill>
                  <a:srgbClr val="000000"/>
                </a:solidFill>
                <a:latin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lang="pt-BR" sz="2400" b="0" u="none" strike="noStrike">
                <a:solidFill>
                  <a:srgbClr val="000000"/>
                </a:solidFill>
                <a:latin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400" b="0" u="none" strike="noStrike">
                <a:solidFill>
                  <a:srgbClr val="000000"/>
                </a:solidFill>
                <a:latin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400" b="0" u="none" strike="noStrike">
                <a:solidFill>
                  <a:srgbClr val="000000"/>
                </a:solidFill>
                <a:latin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400" b="0" u="none" strike="noStrike">
                <a:solidFill>
                  <a:srgbClr val="000000"/>
                </a:solidFill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400" b="0" u="none" strike="noStrike">
                <a:solidFill>
                  <a:srgbClr val="000000"/>
                </a:solidFill>
                <a:latin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lang="pt-BR" sz="2400" b="0" u="none" strike="noStrike">
                <a:solidFill>
                  <a:srgbClr val="000000"/>
                </a:solidFill>
                <a:latin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400" b="0" u="none" strike="noStrike">
                <a:solidFill>
                  <a:srgbClr val="000000"/>
                </a:solidFill>
                <a:latin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lang="pt-BR" sz="2400" b="0" u="none" strike="noStrike">
                <a:solidFill>
                  <a:srgbClr val="000000"/>
                </a:solidFill>
                <a:latin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400" b="0" u="none" strike="noStrike">
                <a:solidFill>
                  <a:srgbClr val="000000"/>
                </a:solidFill>
                <a:latin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400" b="0" u="none" strike="noStrike">
                <a:solidFill>
                  <a:srgbClr val="000000"/>
                </a:solidFill>
                <a:latin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400" b="0" u="none" strike="noStrike">
                <a:solidFill>
                  <a:srgbClr val="000000"/>
                </a:solidFill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828800" lvl="3" indent="-33012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286000" lvl="4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743200" lvl="5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200400" lvl="6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400" b="0" u="none" strike="noStrike">
                <a:solidFill>
                  <a:srgbClr val="000000"/>
                </a:solidFill>
                <a:latin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lang="pt-BR" sz="2400" b="0" u="none" strike="noStrike">
                <a:solidFill>
                  <a:srgbClr val="000000"/>
                </a:solidFill>
                <a:latin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400" b="0" u="none" strike="noStrike">
                <a:solidFill>
                  <a:srgbClr val="000000"/>
                </a:solidFill>
                <a:latin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lang="pt-BR" sz="2400" b="0" u="none" strike="noStrike">
                <a:solidFill>
                  <a:srgbClr val="000000"/>
                </a:solidFill>
                <a:latin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400" b="0" u="none" strike="noStrike">
                <a:solidFill>
                  <a:srgbClr val="000000"/>
                </a:solidFill>
                <a:latin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400" b="0" u="none" strike="noStrike">
                <a:solidFill>
                  <a:srgbClr val="000000"/>
                </a:solidFill>
                <a:latin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400" b="0" u="none" strike="noStrike">
                <a:solidFill>
                  <a:srgbClr val="000000"/>
                </a:solidFill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400" b="0" u="none" strike="noStrike">
                <a:solidFill>
                  <a:srgbClr val="000000"/>
                </a:solidFill>
                <a:latin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lang="pt-BR" sz="2400" b="0" u="none" strike="noStrike">
                <a:solidFill>
                  <a:srgbClr val="000000"/>
                </a:solidFill>
                <a:latin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400" b="0" u="none" strike="noStrike">
                <a:solidFill>
                  <a:srgbClr val="000000"/>
                </a:solidFill>
                <a:latin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lang="pt-BR" sz="2400" b="0" u="none" strike="noStrike">
                <a:solidFill>
                  <a:srgbClr val="000000"/>
                </a:solidFill>
                <a:latin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400" b="0" u="none" strike="noStrike">
                <a:solidFill>
                  <a:srgbClr val="000000"/>
                </a:solidFill>
                <a:latin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400" b="0" u="none" strike="noStrike">
                <a:solidFill>
                  <a:srgbClr val="000000"/>
                </a:solidFill>
                <a:latin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400" b="0" u="none" strike="noStrike">
                <a:solidFill>
                  <a:srgbClr val="000000"/>
                </a:solidFill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828800" lvl="3" indent="-33012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286000" lvl="4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743200" lvl="5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200400" lvl="6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42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43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44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DA25AB8-FB3A-479C-8780-0B7E5F586C0F}" type="slidenum">
              <a:rPr lang="en-US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47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48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AEFC29A-6C4F-4141-86E3-1A3E2D58E3A2}" type="slidenum">
              <a:rPr lang="en-US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JECT_WITH_CAPTIO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pt-BR" sz="2000" b="0" u="none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3200" b="0" u="none" strike="noStrike">
                <a:solidFill>
                  <a:srgbClr val="000000"/>
                </a:solidFill>
                <a:latin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lang="pt-BR" sz="3200" b="0" u="none" strike="noStrike">
                <a:solidFill>
                  <a:srgbClr val="000000"/>
                </a:solidFill>
                <a:latin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3200" b="0" u="none" strike="noStrike">
                <a:solidFill>
                  <a:srgbClr val="000000"/>
                </a:solidFill>
                <a:latin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lang="pt-BR" sz="3200" b="0" u="none" strike="noStrike">
                <a:solidFill>
                  <a:srgbClr val="000000"/>
                </a:solidFill>
                <a:latin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3200" b="0" u="none" strike="noStrike">
                <a:solidFill>
                  <a:srgbClr val="000000"/>
                </a:solidFill>
                <a:latin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3200" b="0" u="none" strike="noStrike">
                <a:solidFill>
                  <a:srgbClr val="000000"/>
                </a:solidFill>
                <a:latin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3200" b="0" u="none" strike="noStrike">
                <a:solidFill>
                  <a:srgbClr val="000000"/>
                </a:solidFill>
                <a:latin typeface="Arial"/>
              </a:defRPr>
            </a:lvl7pPr>
          </a:lstStyle>
          <a:p>
            <a:pPr marL="457200" indent="-43164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914400" lvl="1" indent="-40644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371600" lvl="2" indent="-38088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828800" lvl="3" indent="-35568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286000" lvl="4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743200" lvl="5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200400" lvl="6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1400" b="0" u="none" strike="noStrike">
                <a:solidFill>
                  <a:srgbClr val="000000"/>
                </a:solidFill>
                <a:latin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lang="pt-BR" sz="1400" b="0" u="none" strike="noStrike">
                <a:solidFill>
                  <a:srgbClr val="000000"/>
                </a:solidFill>
                <a:latin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1400" b="0" u="none" strike="noStrike">
                <a:solidFill>
                  <a:srgbClr val="000000"/>
                </a:solidFill>
                <a:latin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lang="pt-BR" sz="1400" b="0" u="none" strike="noStrike">
                <a:solidFill>
                  <a:srgbClr val="000000"/>
                </a:solidFill>
                <a:latin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1400" b="0" u="none" strike="noStrike">
                <a:solidFill>
                  <a:srgbClr val="000000"/>
                </a:solidFill>
                <a:latin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1400" b="0" u="none" strike="noStrike">
                <a:solidFill>
                  <a:srgbClr val="000000"/>
                </a:solidFill>
                <a:latin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1400" b="0" u="none" strike="noStrike">
                <a:solidFill>
                  <a:srgbClr val="000000"/>
                </a:solidFill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E19C649-D3E0-46CB-87C1-67136E4226A6}" type="slidenum">
              <a:rPr lang="en-US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_WITH_CAPTIO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pt-BR" sz="2000" b="0" u="none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noAutofit/>
          </a:bodyPr>
          <a:lstStyle/>
          <a:p>
            <a:pPr indent="0" algn="l">
              <a:buNone/>
            </a:pPr>
            <a:r>
              <a:rPr lang="pt-BR" sz="1800" b="0" u="none" strike="noStrike">
                <a:solidFill>
                  <a:srgbClr val="000000"/>
                </a:solidFill>
                <a:latin typeface="Arial"/>
              </a:rPr>
              <a:t>Clique duas vezes para adicionar uma figura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1400" b="0" u="none" strike="noStrike">
                <a:solidFill>
                  <a:srgbClr val="000000"/>
                </a:solidFill>
                <a:latin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lang="pt-BR" sz="1400" b="0" u="none" strike="noStrike">
                <a:solidFill>
                  <a:srgbClr val="000000"/>
                </a:solidFill>
                <a:latin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1400" b="0" u="none" strike="noStrike">
                <a:solidFill>
                  <a:srgbClr val="000000"/>
                </a:solidFill>
                <a:latin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lang="pt-BR" sz="1400" b="0" u="none" strike="noStrike">
                <a:solidFill>
                  <a:srgbClr val="000000"/>
                </a:solidFill>
                <a:latin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1400" b="0" u="none" strike="noStrike">
                <a:solidFill>
                  <a:srgbClr val="000000"/>
                </a:solidFill>
                <a:latin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1400" b="0" u="none" strike="noStrike">
                <a:solidFill>
                  <a:srgbClr val="000000"/>
                </a:solidFill>
                <a:latin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1400" b="0" u="none" strike="noStrike">
                <a:solidFill>
                  <a:srgbClr val="000000"/>
                </a:solidFill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0EBE78A-EB3E-401E-81B5-D7F53201DAF3}" type="slidenum">
              <a:rPr lang="en-US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074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93;p13"/>
          <p:cNvSpPr/>
          <p:nvPr/>
        </p:nvSpPr>
        <p:spPr>
          <a:xfrm>
            <a:off x="8382000" y="6019800"/>
            <a:ext cx="3431160" cy="402336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8FAFC"/>
                </a:solidFill>
                <a:latin typeface="Plus Jakarta Sans"/>
                <a:ea typeface="Plus Jakarta Sans"/>
              </a:rPr>
              <a:t>Aluno: Júnior Medeiros</a:t>
            </a:r>
          </a:p>
        </p:txBody>
      </p:sp>
      <p:sp>
        <p:nvSpPr>
          <p:cNvPr id="330" name="Google Shape;93;p13"/>
          <p:cNvSpPr/>
          <p:nvPr/>
        </p:nvSpPr>
        <p:spPr>
          <a:xfrm>
            <a:off x="4380420" y="3227832"/>
            <a:ext cx="3431160" cy="402336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8FAFC"/>
                </a:solidFill>
                <a:latin typeface="Plus Jakarta Sans"/>
                <a:ea typeface="Plus Jakarta Sans"/>
              </a:rPr>
              <a:t>. . 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84;p13"/>
          <p:cNvSpPr/>
          <p:nvPr/>
        </p:nvSpPr>
        <p:spPr>
          <a:xfrm>
            <a:off x="609480" y="1846080"/>
            <a:ext cx="2499840" cy="304560"/>
          </a:xfrm>
          <a:prstGeom prst="roundRect">
            <a:avLst>
              <a:gd name="adj" fmla="val 50000"/>
            </a:avLst>
          </a:prstGeom>
          <a:solidFill>
            <a:srgbClr val="122247"/>
          </a:solidFill>
          <a:ln w="9525">
            <a:solidFill>
              <a:srgbClr val="2563EB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Google Shape;85;p13"/>
          <p:cNvSpPr/>
          <p:nvPr/>
        </p:nvSpPr>
        <p:spPr>
          <a:xfrm>
            <a:off x="609480" y="4611960"/>
            <a:ext cx="1485720" cy="399600"/>
          </a:xfrm>
          <a:prstGeom prst="roundRect">
            <a:avLst>
              <a:gd name="adj" fmla="val 19047"/>
            </a:avLst>
          </a:prstGeom>
          <a:solidFill>
            <a:srgbClr val="1E293B"/>
          </a:solidFill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Google Shape;86;p13"/>
          <p:cNvSpPr/>
          <p:nvPr/>
        </p:nvSpPr>
        <p:spPr>
          <a:xfrm>
            <a:off x="2247840" y="4611960"/>
            <a:ext cx="1847520" cy="399600"/>
          </a:xfrm>
          <a:prstGeom prst="roundRect">
            <a:avLst>
              <a:gd name="adj" fmla="val 19047"/>
            </a:avLst>
          </a:prstGeom>
          <a:solidFill>
            <a:srgbClr val="1E293B"/>
          </a:solidFill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Google Shape;87;p13"/>
          <p:cNvSpPr/>
          <p:nvPr/>
        </p:nvSpPr>
        <p:spPr>
          <a:xfrm>
            <a:off x="4248000" y="4611960"/>
            <a:ext cx="1599840" cy="399600"/>
          </a:xfrm>
          <a:prstGeom prst="roundRect">
            <a:avLst>
              <a:gd name="adj" fmla="val 19047"/>
            </a:avLst>
          </a:prstGeom>
          <a:solidFill>
            <a:srgbClr val="1E293B"/>
          </a:solidFill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Google Shape;88;p13"/>
          <p:cNvSpPr/>
          <p:nvPr/>
        </p:nvSpPr>
        <p:spPr>
          <a:xfrm>
            <a:off x="6000840" y="4611960"/>
            <a:ext cx="1342800" cy="399600"/>
          </a:xfrm>
          <a:prstGeom prst="roundRect">
            <a:avLst>
              <a:gd name="adj" fmla="val 19047"/>
            </a:avLst>
          </a:prstGeom>
          <a:solidFill>
            <a:srgbClr val="1E293B"/>
          </a:solidFill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Google Shape;89;p13"/>
          <p:cNvSpPr/>
          <p:nvPr/>
        </p:nvSpPr>
        <p:spPr>
          <a:xfrm>
            <a:off x="609480" y="4611960"/>
            <a:ext cx="37800" cy="3996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19080" rIns="19080" anchor="ctr">
            <a:noAutofit/>
          </a:bodyPr>
          <a:lstStyle/>
          <a:p>
            <a:endParaRPr lang="pt-BR" sz="1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Google Shape;90;p13"/>
          <p:cNvSpPr/>
          <p:nvPr/>
        </p:nvSpPr>
        <p:spPr>
          <a:xfrm>
            <a:off x="2247840" y="4611960"/>
            <a:ext cx="37800" cy="39960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19080" rIns="19080" anchor="ctr">
            <a:noAutofit/>
          </a:bodyPr>
          <a:lstStyle/>
          <a:p>
            <a:endParaRPr lang="pt-BR" sz="1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Google Shape;91;p13"/>
          <p:cNvSpPr/>
          <p:nvPr/>
        </p:nvSpPr>
        <p:spPr>
          <a:xfrm>
            <a:off x="4248000" y="4611960"/>
            <a:ext cx="37800" cy="3996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19080" rIns="19080" anchor="ctr">
            <a:noAutofit/>
          </a:bodyPr>
          <a:lstStyle/>
          <a:p>
            <a:endParaRPr lang="pt-BR" sz="1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Google Shape;92;p13"/>
          <p:cNvSpPr/>
          <p:nvPr/>
        </p:nvSpPr>
        <p:spPr>
          <a:xfrm>
            <a:off x="6000840" y="4611960"/>
            <a:ext cx="37800" cy="39960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19080" rIns="19080" anchor="ctr">
            <a:noAutofit/>
          </a:bodyPr>
          <a:lstStyle/>
          <a:p>
            <a:endParaRPr lang="pt-BR" sz="1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Google Shape;93;p13"/>
          <p:cNvSpPr/>
          <p:nvPr/>
        </p:nvSpPr>
        <p:spPr>
          <a:xfrm>
            <a:off x="609480" y="2379600"/>
            <a:ext cx="9100800" cy="1089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3900" b="1" u="none" strike="noStrike">
                <a:solidFill>
                  <a:srgbClr val="F8FAFC"/>
                </a:solidFill>
                <a:latin typeface="Plus Jakarta Sans"/>
                <a:ea typeface="Plus Jakarta Sans"/>
              </a:rPr>
              <a:t>POO, SOLID &amp; Design Patterns na Prática</a:t>
            </a:r>
            <a:endParaRPr lang="pt-BR" sz="39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Google Shape;94;p13"/>
          <p:cNvSpPr/>
          <p:nvPr/>
        </p:nvSpPr>
        <p:spPr>
          <a:xfrm>
            <a:off x="609480" y="3659400"/>
            <a:ext cx="695304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latin typeface="Plus Jakarta Sans"/>
                <a:ea typeface="Plus Jakarta Sans"/>
              </a:rPr>
              <a:t>Entendimento, aplicação em código, explicação e trade-offs dos princípios essenciais de engenharia.</a:t>
            </a:r>
            <a:endParaRPr lang="pt-BR" sz="15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Google Shape;95;p13"/>
          <p:cNvSpPr/>
          <p:nvPr/>
        </p:nvSpPr>
        <p:spPr>
          <a:xfrm>
            <a:off x="771480" y="1912680"/>
            <a:ext cx="272016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0A5FA"/>
                </a:solidFill>
                <a:latin typeface="Plus Jakarta Sans"/>
                <a:ea typeface="Plus Jakarta Sans"/>
              </a:rPr>
              <a:t>BOAS PRÁTICAS DE SOFTWARE</a:t>
            </a:r>
            <a:endParaRPr lang="pt-BR" sz="105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Google Shape;96;p13"/>
          <p:cNvSpPr/>
          <p:nvPr/>
        </p:nvSpPr>
        <p:spPr>
          <a:xfrm>
            <a:off x="838080" y="4726080"/>
            <a:ext cx="135216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E2E8F0"/>
                </a:solidFill>
                <a:latin typeface="Plus Jakarta Sans"/>
                <a:ea typeface="Plus Jakarta Sans"/>
              </a:rPr>
              <a:t>Encapsulamento</a:t>
            </a:r>
            <a:endParaRPr lang="pt-BR" sz="105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Google Shape;97;p13"/>
          <p:cNvSpPr/>
          <p:nvPr/>
        </p:nvSpPr>
        <p:spPr>
          <a:xfrm>
            <a:off x="2476440" y="4726080"/>
            <a:ext cx="178560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E2E8F0"/>
                </a:solidFill>
                <a:latin typeface="Plus Jakarta Sans"/>
                <a:ea typeface="Plus Jakarta Sans"/>
              </a:rPr>
              <a:t>Chain of Responsibility</a:t>
            </a:r>
            <a:endParaRPr lang="pt-BR" sz="105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Google Shape;98;p13"/>
          <p:cNvSpPr/>
          <p:nvPr/>
        </p:nvSpPr>
        <p:spPr>
          <a:xfrm>
            <a:off x="4476600" y="4726080"/>
            <a:ext cx="147600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E2E8F0"/>
                </a:solidFill>
                <a:latin typeface="Plus Jakarta Sans"/>
                <a:ea typeface="Plus Jakarta Sans"/>
              </a:rPr>
              <a:t>Command Pattern</a:t>
            </a:r>
            <a:endParaRPr lang="pt-BR" sz="105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Google Shape;99;p13"/>
          <p:cNvSpPr/>
          <p:nvPr/>
        </p:nvSpPr>
        <p:spPr>
          <a:xfrm>
            <a:off x="6229440" y="4726080"/>
            <a:ext cx="120924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E2E8F0"/>
                </a:solidFill>
                <a:latin typeface="Plus Jakarta Sans"/>
                <a:ea typeface="Plus Jakarta Sans"/>
              </a:rPr>
              <a:t>ISP (S.O.L.I.D)</a:t>
            </a:r>
            <a:endParaRPr lang="pt-BR" sz="105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Google Shape;93;p13"/>
          <p:cNvSpPr/>
          <p:nvPr/>
        </p:nvSpPr>
        <p:spPr>
          <a:xfrm>
            <a:off x="8382000" y="6019800"/>
            <a:ext cx="3431160" cy="402336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8FAFC"/>
                </a:solidFill>
                <a:latin typeface="Plus Jakarta Sans"/>
                <a:ea typeface="Plus Jakarta Sans"/>
              </a:rPr>
              <a:t>Aluno: Júnior Medeiros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104;p14"/>
          <p:cNvSpPr/>
          <p:nvPr/>
        </p:nvSpPr>
        <p:spPr>
          <a:xfrm>
            <a:off x="609480" y="2724120"/>
            <a:ext cx="2571480" cy="219996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Google Shape;105;p14"/>
          <p:cNvSpPr/>
          <p:nvPr/>
        </p:nvSpPr>
        <p:spPr>
          <a:xfrm>
            <a:off x="3409920" y="2733840"/>
            <a:ext cx="2571480" cy="219996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Google Shape;106;p14"/>
          <p:cNvSpPr/>
          <p:nvPr/>
        </p:nvSpPr>
        <p:spPr>
          <a:xfrm>
            <a:off x="6210360" y="2724120"/>
            <a:ext cx="2571480" cy="219996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Google Shape;107;p14"/>
          <p:cNvSpPr/>
          <p:nvPr/>
        </p:nvSpPr>
        <p:spPr>
          <a:xfrm>
            <a:off x="9010800" y="2735640"/>
            <a:ext cx="2571480" cy="21999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Google Shape;108;p14" descr="imag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23760" y="294336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Google Shape;109;p14" descr="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686040" y="2943360"/>
            <a:ext cx="38052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Google Shape;110;p14" descr="image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524640" y="2943360"/>
            <a:ext cx="34272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Google Shape;111;p14" descr="image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325080" y="294336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Google Shape;112;p14"/>
          <p:cNvSpPr/>
          <p:nvPr/>
        </p:nvSpPr>
        <p:spPr>
          <a:xfrm>
            <a:off x="609480" y="457200"/>
            <a:ext cx="115819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563EB"/>
                </a:solidFill>
                <a:latin typeface="Plus Jakarta Sans"/>
                <a:ea typeface="Plus Jakarta Sans"/>
              </a:rPr>
              <a:t>ESTRUTURA DA APRESENTAÇÃO</a:t>
            </a:r>
            <a:endParaRPr lang="pt-BR" sz="10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Google Shape;113;p14"/>
          <p:cNvSpPr/>
          <p:nvPr/>
        </p:nvSpPr>
        <p:spPr>
          <a:xfrm>
            <a:off x="609480" y="704880"/>
            <a:ext cx="1158192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Matriz de Tópicos Avaliados</a:t>
            </a:r>
            <a:endParaRPr lang="pt-BR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Google Shape;114;p14"/>
          <p:cNvSpPr/>
          <p:nvPr/>
        </p:nvSpPr>
        <p:spPr>
          <a:xfrm>
            <a:off x="923760" y="3505320"/>
            <a:ext cx="2549880" cy="23076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1. Encapsulamento</a:t>
            </a:r>
            <a:endParaRPr lang="pt-BR" sz="15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Google Shape;115;p14"/>
          <p:cNvSpPr/>
          <p:nvPr/>
        </p:nvSpPr>
        <p:spPr>
          <a:xfrm>
            <a:off x="923760" y="3919680"/>
            <a:ext cx="2037960" cy="79992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latin typeface="Plus Jakarta Sans"/>
                <a:ea typeface="Plus Jakarta Sans"/>
              </a:rPr>
              <a:t>Proteção de estado interno e invariantes de regras de negócio em POO.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Google Shape;116;p14"/>
          <p:cNvSpPr/>
          <p:nvPr/>
        </p:nvSpPr>
        <p:spPr>
          <a:xfrm>
            <a:off x="3724200" y="3505320"/>
            <a:ext cx="254988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2. Chain of Resp.</a:t>
            </a:r>
            <a:endParaRPr lang="pt-BR" sz="15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Google Shape;117;p14"/>
          <p:cNvSpPr/>
          <p:nvPr/>
        </p:nvSpPr>
        <p:spPr>
          <a:xfrm>
            <a:off x="3724200" y="3919680"/>
            <a:ext cx="203832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latin typeface="Plus Jakarta Sans"/>
                <a:ea typeface="Plus Jakarta Sans"/>
              </a:rPr>
              <a:t>Encadeamento de handlers para processamento sequencial e desacoplado.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Google Shape;118;p14"/>
          <p:cNvSpPr/>
          <p:nvPr/>
        </p:nvSpPr>
        <p:spPr>
          <a:xfrm>
            <a:off x="6524640" y="3505320"/>
            <a:ext cx="2549880" cy="23076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3. Command</a:t>
            </a:r>
            <a:endParaRPr lang="pt-BR" sz="15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Google Shape;119;p14"/>
          <p:cNvSpPr/>
          <p:nvPr/>
        </p:nvSpPr>
        <p:spPr>
          <a:xfrm>
            <a:off x="6477120" y="3897360"/>
            <a:ext cx="2038320" cy="73872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latin typeface="Plus Jakarta Sans"/>
                <a:ea typeface="Plus Jakarta Sans"/>
              </a:rPr>
              <a:t>Encapsulamento de requisições como objetos parametrizáveis com undo/redo.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Google Shape;120;p14"/>
          <p:cNvSpPr/>
          <p:nvPr/>
        </p:nvSpPr>
        <p:spPr>
          <a:xfrm>
            <a:off x="9325080" y="3505320"/>
            <a:ext cx="2549880" cy="23076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4. ISP (S.O.L.I.D)</a:t>
            </a:r>
            <a:endParaRPr lang="pt-BR" sz="15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Google Shape;121;p14"/>
          <p:cNvSpPr/>
          <p:nvPr/>
        </p:nvSpPr>
        <p:spPr>
          <a:xfrm>
            <a:off x="9277560" y="3896640"/>
            <a:ext cx="203832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latin typeface="Plus Jakarta Sans"/>
                <a:ea typeface="Plus Jakarta Sans"/>
              </a:rPr>
              <a:t>Segregação de interfaces magras para evitar dependências forçadas.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126;p15"/>
          <p:cNvSpPr/>
          <p:nvPr/>
        </p:nvSpPr>
        <p:spPr>
          <a:xfrm>
            <a:off x="609480" y="2666880"/>
            <a:ext cx="1158192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8FAFC"/>
                </a:solidFill>
                <a:latin typeface="Plus Jakarta Sans"/>
                <a:ea typeface="Plus Jakarta Sans"/>
              </a:rPr>
              <a:t>TÓPICO 01</a:t>
            </a:r>
            <a:endParaRPr lang="pt-BR" sz="1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Google Shape;127;p15"/>
          <p:cNvSpPr/>
          <p:nvPr/>
        </p:nvSpPr>
        <p:spPr>
          <a:xfrm>
            <a:off x="609480" y="2981160"/>
            <a:ext cx="11581920" cy="58068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latin typeface="Plus Jakarta Sans"/>
                <a:ea typeface="Plus Jakarta Sans"/>
              </a:rPr>
              <a:t>Encapsulamento (POO)</a:t>
            </a:r>
            <a:endParaRPr lang="pt-BR" sz="36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Google Shape;128;p15"/>
          <p:cNvSpPr/>
          <p:nvPr/>
        </p:nvSpPr>
        <p:spPr>
          <a:xfrm>
            <a:off x="609480" y="3714840"/>
            <a:ext cx="6571800" cy="47592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BEAFE"/>
                </a:solidFill>
                <a:latin typeface="Plus Jakarta Sans"/>
                <a:ea typeface="Plus Jakarta Sans"/>
              </a:rPr>
              <a:t>O pilar fundamental da Programação Orientada a Objetos para proteção de dados e integridade de domínio.</a:t>
            </a:r>
            <a:endParaRPr lang="pt-BR" sz="15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133;p16"/>
          <p:cNvSpPr/>
          <p:nvPr/>
        </p:nvSpPr>
        <p:spPr>
          <a:xfrm>
            <a:off x="5857920" y="2776680"/>
            <a:ext cx="5724000" cy="2161800"/>
          </a:xfrm>
          <a:prstGeom prst="roundRect">
            <a:avLst>
              <a:gd name="adj" fmla="val 7048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" name="Google Shape;134;p16" descr="imag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377200" y="3166920"/>
            <a:ext cx="685440" cy="60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Google Shape;135;p16" descr="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480" y="2795760"/>
            <a:ext cx="1900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Google Shape;136;p16" descr="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480" y="3643200"/>
            <a:ext cx="1900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Google Shape;137;p16" descr="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480" y="4491000"/>
            <a:ext cx="19008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Google Shape;138;p16"/>
          <p:cNvSpPr/>
          <p:nvPr/>
        </p:nvSpPr>
        <p:spPr>
          <a:xfrm>
            <a:off x="609480" y="457200"/>
            <a:ext cx="115819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563EB"/>
                </a:solidFill>
                <a:latin typeface="Plus Jakarta Sans"/>
                <a:ea typeface="Plus Jakarta Sans"/>
              </a:rPr>
              <a:t>ENCAPSULAMENTO (POO)</a:t>
            </a:r>
            <a:endParaRPr lang="pt-BR" sz="10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Google Shape;139;p16"/>
          <p:cNvSpPr/>
          <p:nvPr/>
        </p:nvSpPr>
        <p:spPr>
          <a:xfrm>
            <a:off x="609480" y="704880"/>
            <a:ext cx="1158192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Entendimento do Conceito</a:t>
            </a:r>
            <a:endParaRPr lang="pt-BR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Google Shape;140;p16"/>
          <p:cNvSpPr/>
          <p:nvPr/>
        </p:nvSpPr>
        <p:spPr>
          <a:xfrm>
            <a:off x="5475960" y="4005360"/>
            <a:ext cx="648792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Cofre de Negócio</a:t>
            </a:r>
            <a:endParaRPr lang="pt-BR" sz="16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Google Shape;141;p16"/>
          <p:cNvSpPr/>
          <p:nvPr/>
        </p:nvSpPr>
        <p:spPr>
          <a:xfrm>
            <a:off x="5630400" y="4348080"/>
            <a:ext cx="617904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latin typeface="Plus Jakarta Sans"/>
                <a:ea typeface="Plus Jakarta Sans"/>
              </a:rPr>
              <a:t>Dados privados mantidos sob regras estritas de acesso e alteração.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Google Shape;142;p16"/>
          <p:cNvSpPr/>
          <p:nvPr/>
        </p:nvSpPr>
        <p:spPr>
          <a:xfrm>
            <a:off x="952560" y="2781360"/>
            <a:ext cx="4695480" cy="657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Ocultamento de Estado:</a:t>
            </a:r>
            <a:endParaRPr lang="pt-BR" sz="13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Google Shape;143;p16"/>
          <p:cNvSpPr/>
          <p:nvPr/>
        </p:nvSpPr>
        <p:spPr>
          <a:xfrm>
            <a:off x="952560" y="3629160"/>
            <a:ext cx="4695480" cy="657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Garantia de Invariantes:</a:t>
            </a:r>
            <a:endParaRPr lang="pt-BR" sz="13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Google Shape;144;p16"/>
          <p:cNvSpPr/>
          <p:nvPr/>
        </p:nvSpPr>
        <p:spPr>
          <a:xfrm>
            <a:off x="952560" y="4476600"/>
            <a:ext cx="4638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Interface Pública Restrita:</a:t>
            </a:r>
            <a:endParaRPr lang="pt-BR" sz="13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Google Shape;145;p16"/>
          <p:cNvSpPr/>
          <p:nvPr/>
        </p:nvSpPr>
        <p:spPr>
          <a:xfrm>
            <a:off x="952560" y="3038400"/>
            <a:ext cx="46954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5569"/>
                </a:solidFill>
                <a:latin typeface="Plus Jakarta Sans"/>
                <a:ea typeface="Plus Jakarta Sans"/>
              </a:rPr>
              <a:t>Impede modificações diretas de atributos por código externo desautorizado.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Google Shape;146;p16"/>
          <p:cNvSpPr/>
          <p:nvPr/>
        </p:nvSpPr>
        <p:spPr>
          <a:xfrm>
            <a:off x="952560" y="3886200"/>
            <a:ext cx="46954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5569"/>
                </a:solidFill>
                <a:latin typeface="Plus Jakarta Sans"/>
                <a:ea typeface="Plus Jakarta Sans"/>
              </a:rPr>
              <a:t>Assegura que o objeto permaneça sempre em um estado válido e consistente.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Google Shape;147;p16"/>
          <p:cNvSpPr/>
          <p:nvPr/>
        </p:nvSpPr>
        <p:spPr>
          <a:xfrm>
            <a:off x="952560" y="4734000"/>
            <a:ext cx="567900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5569"/>
                </a:solidFill>
                <a:latin typeface="Plus Jakarta Sans"/>
                <a:ea typeface="Plus Jakarta Sans"/>
              </a:rPr>
              <a:t>Expõe apenas métodos de negócios operacionais e validados.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52;p17"/>
          <p:cNvSpPr/>
          <p:nvPr/>
        </p:nvSpPr>
        <p:spPr>
          <a:xfrm>
            <a:off x="609480" y="1719720"/>
            <a:ext cx="10972440" cy="4760280"/>
          </a:xfrm>
          <a:prstGeom prst="roundRect">
            <a:avLst>
              <a:gd name="adj" fmla="val 4655"/>
            </a:avLst>
          </a:prstGeom>
          <a:solidFill>
            <a:srgbClr val="0F172A"/>
          </a:solidFill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Google Shape;153;p17"/>
          <p:cNvSpPr/>
          <p:nvPr/>
        </p:nvSpPr>
        <p:spPr>
          <a:xfrm>
            <a:off x="609480" y="457200"/>
            <a:ext cx="115819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563EB"/>
                </a:solidFill>
                <a:latin typeface="Plus Jakarta Sans"/>
                <a:ea typeface="Plus Jakarta Sans"/>
              </a:rPr>
              <a:t>ENCAPSULAMENTO (POO)</a:t>
            </a:r>
            <a:endParaRPr lang="pt-BR" sz="10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Google Shape;154;p17"/>
          <p:cNvSpPr/>
          <p:nvPr/>
        </p:nvSpPr>
        <p:spPr>
          <a:xfrm>
            <a:off x="609480" y="704880"/>
            <a:ext cx="1158192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Aplicação no Código (BankAccount)</a:t>
            </a:r>
            <a:endParaRPr lang="pt-BR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Google Shape;155;p17"/>
          <p:cNvSpPr/>
          <p:nvPr/>
        </p:nvSpPr>
        <p:spPr>
          <a:xfrm>
            <a:off x="920880" y="1826640"/>
            <a:ext cx="10350360" cy="434052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class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BankAccount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{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 </a:t>
            </a:r>
            <a:r>
              <a:rPr lang="en-US" sz="1200" b="0" i="1" u="none" strike="noStrike">
                <a:solidFill>
                  <a:srgbClr val="64748B"/>
                </a:solidFill>
                <a:latin typeface="JetBrains Mono"/>
                <a:ea typeface="JetBrains Mono"/>
              </a:rPr>
              <a:t>// Atributos privados e encapsulados (#)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#saldo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: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number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;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constructor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(saldoInicial: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number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) {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  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this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.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#saldo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= Math.</a:t>
            </a:r>
            <a:r>
              <a:rPr lang="en-US" sz="1200" b="0" u="none" strike="noStrike">
                <a:solidFill>
                  <a:srgbClr val="38BDF8"/>
                </a:solidFill>
                <a:latin typeface="JetBrains Mono"/>
                <a:ea typeface="JetBrains Mono"/>
              </a:rPr>
              <a:t>max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(0, saldoInicial);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 }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public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</a:t>
            </a:r>
            <a:r>
              <a:rPr lang="en-US" sz="1200" b="0" u="none" strike="noStrike">
                <a:solidFill>
                  <a:srgbClr val="38BDF8"/>
                </a:solidFill>
                <a:latin typeface="JetBrains Mono"/>
                <a:ea typeface="JetBrains Mono"/>
              </a:rPr>
              <a:t>getSaldo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():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number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{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return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this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.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#saldo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; }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public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</a:t>
            </a:r>
            <a:r>
              <a:rPr lang="en-US" sz="1200" b="0" u="none" strike="noStrike">
                <a:solidFill>
                  <a:srgbClr val="38BDF8"/>
                </a:solidFill>
                <a:latin typeface="JetBrains Mono"/>
                <a:ea typeface="JetBrains Mono"/>
              </a:rPr>
              <a:t>sacar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(valor: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number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):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boolean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{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  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if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(valor &lt;= 0 || valor &gt;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this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.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#saldo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)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return false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; </a:t>
            </a:r>
            <a:r>
              <a:rPr lang="en-US" sz="1200" b="0" i="1" u="none" strike="noStrike">
                <a:solidFill>
                  <a:srgbClr val="64748B"/>
                </a:solidFill>
                <a:latin typeface="JetBrains Mono"/>
                <a:ea typeface="JetBrains Mono"/>
              </a:rPr>
              <a:t>// Validação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  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this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.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#saldo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-= valor;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  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return true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;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 }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}</a:t>
            </a:r>
            <a:r>
              <a:rPr lang="en-US" sz="1100" b="0" u="none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lang="pt-BR" sz="11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60;p18"/>
          <p:cNvSpPr/>
          <p:nvPr/>
        </p:nvSpPr>
        <p:spPr>
          <a:xfrm>
            <a:off x="609480" y="2946240"/>
            <a:ext cx="3504960" cy="1898640"/>
          </a:xfrm>
          <a:prstGeom prst="roundRect">
            <a:avLst>
              <a:gd name="adj" fmla="val 6018"/>
            </a:avLst>
          </a:prstGeom>
          <a:solidFill>
            <a:srgbClr val="F0F9FF"/>
          </a:solidFill>
          <a:ln w="9525">
            <a:solidFill>
              <a:srgbClr val="BAE6FD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Google Shape;161;p18"/>
          <p:cNvSpPr/>
          <p:nvPr/>
        </p:nvSpPr>
        <p:spPr>
          <a:xfrm>
            <a:off x="4343400" y="2946240"/>
            <a:ext cx="3504960" cy="1898640"/>
          </a:xfrm>
          <a:prstGeom prst="roundRect">
            <a:avLst>
              <a:gd name="adj" fmla="val 6985"/>
            </a:avLst>
          </a:prstGeom>
          <a:solidFill>
            <a:srgbClr val="F0FDF4"/>
          </a:solidFill>
          <a:ln w="9525">
            <a:solidFill>
              <a:srgbClr val="BBF7D0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Google Shape;162;p18"/>
          <p:cNvSpPr/>
          <p:nvPr/>
        </p:nvSpPr>
        <p:spPr>
          <a:xfrm>
            <a:off x="8077320" y="2946240"/>
            <a:ext cx="3504960" cy="1898640"/>
          </a:xfrm>
          <a:prstGeom prst="roundRect">
            <a:avLst>
              <a:gd name="adj" fmla="val 6985"/>
            </a:avLst>
          </a:prstGeom>
          <a:solidFill>
            <a:srgbClr val="FFF1F2"/>
          </a:solidFill>
          <a:ln w="9525">
            <a:solidFill>
              <a:srgbClr val="FECDD3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0" name="Google Shape;163;p18" descr="imag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85960" y="3260520"/>
            <a:ext cx="14256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Google Shape;164;p18" descr="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95760" y="3246120"/>
            <a:ext cx="19008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Google Shape;165;p18" descr="image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353440" y="3246120"/>
            <a:ext cx="2376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Google Shape;166;p18"/>
          <p:cNvSpPr/>
          <p:nvPr/>
        </p:nvSpPr>
        <p:spPr>
          <a:xfrm>
            <a:off x="609480" y="457200"/>
            <a:ext cx="115819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563EB"/>
                </a:solidFill>
                <a:latin typeface="Plus Jakarta Sans"/>
                <a:ea typeface="Plus Jakarta Sans"/>
              </a:rPr>
              <a:t>ENCAPSULAMENTO (POO)</a:t>
            </a:r>
            <a:endParaRPr lang="pt-BR" sz="10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Google Shape;167;p18"/>
          <p:cNvSpPr/>
          <p:nvPr/>
        </p:nvSpPr>
        <p:spPr>
          <a:xfrm>
            <a:off x="609480" y="704880"/>
            <a:ext cx="1158192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Explicação &amp; Trade-offs</a:t>
            </a:r>
            <a:endParaRPr lang="pt-BR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Google Shape;168;p18"/>
          <p:cNvSpPr/>
          <p:nvPr/>
        </p:nvSpPr>
        <p:spPr>
          <a:xfrm>
            <a:off x="885960" y="3222360"/>
            <a:ext cx="387504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21924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369A1"/>
                </a:solidFill>
                <a:latin typeface="Plus Jakarta Sans"/>
                <a:ea typeface="Plus Jakarta Sans"/>
              </a:rPr>
              <a:t>Explicação Prática</a:t>
            </a:r>
            <a:endParaRPr lang="pt-BR" sz="15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Google Shape;169;p18"/>
          <p:cNvSpPr/>
          <p:nvPr/>
        </p:nvSpPr>
        <p:spPr>
          <a:xfrm>
            <a:off x="938520" y="3574800"/>
            <a:ext cx="3047760" cy="77544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C4A6E"/>
                </a:solidFill>
                <a:highlight>
                  <a:srgbClr val="F0F9FF"/>
                </a:highlight>
                <a:latin typeface="Plus Jakarta Sans"/>
                <a:ea typeface="Plus Jakarta Sans"/>
              </a:rPr>
              <a:t>O atributo </a:t>
            </a:r>
            <a:r>
              <a:rPr lang="en-US" sz="1200" b="0" u="none" strike="noStrike">
                <a:solidFill>
                  <a:srgbClr val="0C4A6E"/>
                </a:solidFill>
                <a:highlight>
                  <a:srgbClr val="E0F2FE"/>
                </a:highlight>
                <a:latin typeface="Roboto Mono"/>
                <a:ea typeface="Roboto Mono"/>
              </a:rPr>
              <a:t>#saldo</a:t>
            </a:r>
            <a:r>
              <a:rPr lang="en-US" sz="1200" b="0" u="none" strike="noStrike">
                <a:solidFill>
                  <a:srgbClr val="0C4A6E"/>
                </a:solidFill>
                <a:highlight>
                  <a:srgbClr val="F0F9FF"/>
                </a:highlight>
                <a:latin typeface="Plus Jakarta Sans"/>
                <a:ea typeface="Plus Jakarta Sans"/>
              </a:rPr>
              <a:t> não pode ser zerado ou alterado de fora sem passar pelas regras de validação do método </a:t>
            </a:r>
            <a:r>
              <a:rPr lang="en-US" sz="1200" b="0" u="none" strike="noStrike">
                <a:solidFill>
                  <a:srgbClr val="0C4A6E"/>
                </a:solidFill>
                <a:highlight>
                  <a:srgbClr val="E0F2FE"/>
                </a:highlight>
                <a:latin typeface="Roboto Mono"/>
                <a:ea typeface="Roboto Mono"/>
              </a:rPr>
              <a:t>sacar()</a:t>
            </a:r>
            <a:r>
              <a:rPr lang="en-US" sz="1200" b="0" u="none" strike="noStrike">
                <a:solidFill>
                  <a:srgbClr val="0C4A6E"/>
                </a:solidFill>
                <a:highlight>
                  <a:srgbClr val="F0F9FF"/>
                </a:highlight>
                <a:latin typeface="Plus Jakarta Sans"/>
                <a:ea typeface="Plus Jakarta Sans"/>
              </a:rPr>
              <a:t>.</a:t>
            </a:r>
            <a:r>
              <a:rPr lang="en-US" sz="1100" b="0" u="none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lang="pt-BR" sz="1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Google Shape;170;p18"/>
          <p:cNvSpPr/>
          <p:nvPr/>
        </p:nvSpPr>
        <p:spPr>
          <a:xfrm>
            <a:off x="4619520" y="3225960"/>
            <a:ext cx="3875040" cy="23076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26676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5803D"/>
                </a:solidFill>
                <a:latin typeface="Plus Jakarta Sans"/>
                <a:ea typeface="Plus Jakarta Sans"/>
              </a:rPr>
              <a:t>Vantagens</a:t>
            </a:r>
            <a:endParaRPr lang="pt-BR" sz="15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Google Shape;171;p18"/>
          <p:cNvSpPr/>
          <p:nvPr/>
        </p:nvSpPr>
        <p:spPr>
          <a:xfrm>
            <a:off x="4572000" y="3574800"/>
            <a:ext cx="3047760" cy="77544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4532D"/>
                </a:solidFill>
                <a:highlight>
                  <a:srgbClr val="F0FDF4"/>
                </a:highlight>
                <a:latin typeface="Plus Jakarta Sans"/>
                <a:ea typeface="Plus Jakarta Sans"/>
              </a:rPr>
              <a:t>Proteção contra dados corrompidos, facilidade de manutenção e desacoplamento de detalhes internos.</a:t>
            </a:r>
            <a:r>
              <a:rPr lang="en-US" sz="1100" b="0" u="none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lang="pt-BR" sz="1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Google Shape;172;p18"/>
          <p:cNvSpPr/>
          <p:nvPr/>
        </p:nvSpPr>
        <p:spPr>
          <a:xfrm>
            <a:off x="8353440" y="3236760"/>
            <a:ext cx="3838320" cy="23076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31428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E123C"/>
                </a:solidFill>
                <a:latin typeface="Plus Jakarta Sans"/>
                <a:ea typeface="Plus Jakarta Sans"/>
              </a:rPr>
              <a:t>Trade-offs</a:t>
            </a:r>
            <a:endParaRPr lang="pt-BR" sz="15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Google Shape;173;p18"/>
          <p:cNvSpPr/>
          <p:nvPr/>
        </p:nvSpPr>
        <p:spPr>
          <a:xfrm>
            <a:off x="8305920" y="3574800"/>
            <a:ext cx="3047760" cy="77544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81337"/>
                </a:solidFill>
                <a:highlight>
                  <a:srgbClr val="FFF1F2"/>
                </a:highlight>
                <a:latin typeface="Plus Jakarta Sans"/>
                <a:ea typeface="Plus Jakarta Sans"/>
              </a:rPr>
              <a:t>Escrever métodos boilerplate extras e potencial verbosidade quando muitos atributos precisam de acesso legível.</a:t>
            </a:r>
            <a:r>
              <a:rPr lang="en-US" sz="1100" b="0" u="none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lang="pt-BR" sz="11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09600" y="1314450"/>
            <a:ext cx="3530649" cy="5086350"/>
          </a:xfrm>
          <a:prstGeom prst="roundRect">
            <a:avLst>
              <a:gd name="adj" fmla="val 43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749" y="1314450"/>
            <a:ext cx="3530649" cy="5086350"/>
          </a:xfrm>
          <a:prstGeom prst="roundRect">
            <a:avLst>
              <a:gd name="adj" fmla="val 43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899" y="1314450"/>
            <a:ext cx="3530649" cy="5086350"/>
          </a:xfrm>
          <a:prstGeom prst="roundRect">
            <a:avLst>
              <a:gd name="adj" fmla="val 43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47725" y="5374183"/>
            <a:ext cx="3054399" cy="788491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68874" y="5374183"/>
            <a:ext cx="3054399" cy="788491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90024" y="5355133"/>
            <a:ext cx="3054399" cy="807541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7725" y="5374183"/>
            <a:ext cx="38100" cy="78849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68874" y="5374183"/>
            <a:ext cx="38100" cy="78849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90024" y="5355133"/>
            <a:ext cx="38100" cy="80754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566862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874" y="1566862"/>
            <a:ext cx="19050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0024" y="1566862"/>
            <a:ext cx="190500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7725" y="1885950"/>
            <a:ext cx="31496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"Criar getter e setter para todos os atributos não anula o encapsulamento?"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125" y="5488483"/>
            <a:ext cx="2882949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0369A1"/>
                </a:solidFill>
                <a:latin typeface="Plus Jakarta Sans"/>
              </a:rPr>
              <a:t>Resposta:</a:t>
            </a:r>
            <a:r>
              <a:rPr sz="1050" b="0" i="0" u="none">
                <a:solidFill>
                  <a:srgbClr val="0369A1"/>
                </a:solidFill>
                <a:latin typeface="Plus Jakarta Sans"/>
              </a:rPr>
              <a:t> Sim, getters/setters cegos geram modelo anêmico. Exponha apenas comportamentos de negócio.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8874" y="1885950"/>
            <a:ext cx="31496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"Encapsulamento serve para segurança de dados ou organização de código?"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1274" y="5488483"/>
            <a:ext cx="2882949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0369A1"/>
                </a:solidFill>
                <a:latin typeface="Plus Jakarta Sans"/>
              </a:rPr>
              <a:t>Resposta:</a:t>
            </a:r>
            <a:r>
              <a:rPr sz="1050" b="0" i="0" u="none">
                <a:solidFill>
                  <a:srgbClr val="0369A1"/>
                </a:solidFill>
                <a:latin typeface="Plus Jakarta Sans"/>
              </a:rPr>
              <a:t> Proteção de invariantes de negócio e redução de acoplamento, não criptografia/segurança cibernética.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0024" y="1885950"/>
            <a:ext cx="31496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"Como funciona em linguagens sem modificadores private nativos ou antigos?"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2424" y="5469433"/>
            <a:ext cx="2882949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0369A1"/>
                </a:solidFill>
                <a:latin typeface="Plus Jakarta Sans"/>
              </a:rPr>
              <a:t>Resposta:</a:t>
            </a:r>
            <a:r>
              <a:rPr sz="1050" b="0" i="0" u="none">
                <a:solidFill>
                  <a:srgbClr val="0369A1"/>
                </a:solidFill>
                <a:latin typeface="Plus Jakarta Sans"/>
              </a:rPr>
              <a:t> JS possui private fields (#saldo); Python usa convenção (_saldo) e name mangling.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475" y="1552575"/>
            <a:ext cx="286285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Getters/Setters em Tudo?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54624" y="1552575"/>
            <a:ext cx="266283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Segurança vs Ocultação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5774" y="1552575"/>
            <a:ext cx="212526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JavaScript / Python</a:t>
            </a:r>
          </a:p>
        </p:txBody>
      </p:sp>
      <p:sp>
        <p:nvSpPr>
          <p:cNvPr id="28" name="Google Shape;138;p16">
            <a:extLst>
              <a:ext uri="{FF2B5EF4-FFF2-40B4-BE49-F238E27FC236}">
                <a16:creationId xmlns:a16="http://schemas.microsoft.com/office/drawing/2014/main" id="{3A2BFB00-E46F-CCBC-A5E4-5E73F00DA65C}"/>
              </a:ext>
            </a:extLst>
          </p:cNvPr>
          <p:cNvSpPr/>
          <p:nvPr/>
        </p:nvSpPr>
        <p:spPr>
          <a:xfrm>
            <a:off x="609480" y="457200"/>
            <a:ext cx="115819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563EB"/>
                </a:solidFill>
                <a:latin typeface="Plus Jakarta Sans"/>
                <a:ea typeface="Plus Jakarta Sans"/>
              </a:rPr>
              <a:t>ENCAPSULAMENTO (POO)</a:t>
            </a:r>
            <a:endParaRPr lang="pt-BR" sz="10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Google Shape;167;p18">
            <a:extLst>
              <a:ext uri="{FF2B5EF4-FFF2-40B4-BE49-F238E27FC236}">
                <a16:creationId xmlns:a16="http://schemas.microsoft.com/office/drawing/2014/main" id="{2B32F390-D8A7-F995-5A53-7034BC0B405C}"/>
              </a:ext>
            </a:extLst>
          </p:cNvPr>
          <p:cNvSpPr/>
          <p:nvPr/>
        </p:nvSpPr>
        <p:spPr>
          <a:xfrm>
            <a:off x="609480" y="704880"/>
            <a:ext cx="1158192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2400" b="1" dirty="0" err="1">
                <a:solidFill>
                  <a:srgbClr val="0F172A"/>
                </a:solidFill>
                <a:latin typeface="Plus Jakarta Sans"/>
              </a:rPr>
              <a:t>Encapsulamento</a:t>
            </a:r>
            <a:r>
              <a:rPr lang="en-US" sz="2400" b="1" dirty="0">
                <a:solidFill>
                  <a:srgbClr val="0F172A"/>
                </a:solidFill>
                <a:latin typeface="Plus Jakarta Sans"/>
              </a:rPr>
              <a:t>: </a:t>
            </a:r>
            <a:r>
              <a:rPr lang="en-US" sz="2400" b="1" dirty="0" err="1">
                <a:solidFill>
                  <a:srgbClr val="0F172A"/>
                </a:solidFill>
                <a:latin typeface="Plus Jakarta Sans"/>
              </a:rPr>
              <a:t>Perguntas</a:t>
            </a:r>
            <a:r>
              <a:rPr lang="en-US" sz="2400" b="1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lang="en-US" sz="2400" b="1" dirty="0" err="1">
                <a:solidFill>
                  <a:srgbClr val="0F172A"/>
                </a:solidFill>
                <a:latin typeface="Plus Jakarta Sans"/>
              </a:rPr>
              <a:t>Frequentes</a:t>
            </a:r>
            <a:endParaRPr lang="en-US" sz="2400" dirty="0" err="1">
              <a:solidFill>
                <a:srgbClr val="000000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3249075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78;p19"/>
          <p:cNvSpPr/>
          <p:nvPr/>
        </p:nvSpPr>
        <p:spPr>
          <a:xfrm>
            <a:off x="609480" y="2666880"/>
            <a:ext cx="1158192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AE6FD"/>
                </a:solidFill>
                <a:latin typeface="Plus Jakarta Sans"/>
                <a:ea typeface="Plus Jakarta Sans"/>
              </a:rPr>
              <a:t>TÓPICO 02</a:t>
            </a:r>
            <a:endParaRPr lang="pt-BR" sz="1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Google Shape;179;p19"/>
          <p:cNvSpPr/>
          <p:nvPr/>
        </p:nvSpPr>
        <p:spPr>
          <a:xfrm>
            <a:off x="609480" y="2981160"/>
            <a:ext cx="11581920" cy="58068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latin typeface="Plus Jakarta Sans"/>
                <a:ea typeface="Plus Jakarta Sans"/>
              </a:rPr>
              <a:t>Chain of Responsibility</a:t>
            </a:r>
            <a:endParaRPr lang="pt-BR" sz="36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Google Shape;180;p19"/>
          <p:cNvSpPr/>
          <p:nvPr/>
        </p:nvSpPr>
        <p:spPr>
          <a:xfrm>
            <a:off x="609480" y="3714840"/>
            <a:ext cx="6571800" cy="47592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0F2FE"/>
                </a:solidFill>
                <a:latin typeface="Plus Jakarta Sans"/>
                <a:ea typeface="Plus Jakarta Sans"/>
              </a:rPr>
              <a:t>Design Pattern Comportamental para passar requisições ao longo de uma corrente de manipuladores.</a:t>
            </a:r>
            <a:endParaRPr lang="pt-BR" sz="15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85;p20"/>
          <p:cNvSpPr/>
          <p:nvPr/>
        </p:nvSpPr>
        <p:spPr>
          <a:xfrm>
            <a:off x="5857920" y="2776680"/>
            <a:ext cx="5724000" cy="2161800"/>
          </a:xfrm>
          <a:prstGeom prst="roundRect">
            <a:avLst>
              <a:gd name="adj" fmla="val 7048"/>
            </a:avLst>
          </a:prstGeom>
          <a:solidFill>
            <a:srgbClr val="F0F9FF"/>
          </a:solidFill>
          <a:ln w="9525">
            <a:solidFill>
              <a:srgbClr val="BAE6FD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Google Shape;186;p20" descr="imag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415360" y="3166920"/>
            <a:ext cx="609120" cy="60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Google Shape;187;p20" descr="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480" y="2695680"/>
            <a:ext cx="1900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" name="Google Shape;188;p20" descr="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480" y="3543480"/>
            <a:ext cx="1900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" name="Google Shape;189;p20" descr="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480" y="4390920"/>
            <a:ext cx="19008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Google Shape;190;p20"/>
          <p:cNvSpPr/>
          <p:nvPr/>
        </p:nvSpPr>
        <p:spPr>
          <a:xfrm>
            <a:off x="609480" y="457200"/>
            <a:ext cx="115819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563EB"/>
                </a:solidFill>
                <a:latin typeface="Plus Jakarta Sans"/>
                <a:ea typeface="Plus Jakarta Sans"/>
              </a:rPr>
              <a:t>CHAIN OF RESPONSIBILITY</a:t>
            </a:r>
            <a:endParaRPr lang="pt-BR" sz="10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Google Shape;191;p20"/>
          <p:cNvSpPr/>
          <p:nvPr/>
        </p:nvSpPr>
        <p:spPr>
          <a:xfrm>
            <a:off x="609480" y="704880"/>
            <a:ext cx="1158192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Entendimento do Conceito</a:t>
            </a:r>
            <a:endParaRPr lang="pt-BR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Google Shape;192;p20"/>
          <p:cNvSpPr/>
          <p:nvPr/>
        </p:nvSpPr>
        <p:spPr>
          <a:xfrm>
            <a:off x="5475960" y="4005360"/>
            <a:ext cx="648792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Fluxo Middleware</a:t>
            </a:r>
            <a:endParaRPr lang="pt-BR" sz="16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Google Shape;193;p20"/>
          <p:cNvSpPr/>
          <p:nvPr/>
        </p:nvSpPr>
        <p:spPr>
          <a:xfrm>
            <a:off x="5630400" y="4348080"/>
            <a:ext cx="617904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369A1"/>
                </a:solidFill>
                <a:latin typeface="Plus Jakarta Sans"/>
                <a:ea typeface="Plus Jakarta Sans"/>
              </a:rPr>
              <a:t>AuthHandler ➔ ValidationHandler ➔ LogHandler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Google Shape;194;p20"/>
          <p:cNvSpPr/>
          <p:nvPr/>
        </p:nvSpPr>
        <p:spPr>
          <a:xfrm>
            <a:off x="952560" y="2681280"/>
            <a:ext cx="4695480" cy="657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Desacoplamento Remetente-Receptor:</a:t>
            </a:r>
            <a:endParaRPr lang="pt-BR" sz="13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Google Shape;195;p20"/>
          <p:cNvSpPr/>
          <p:nvPr/>
        </p:nvSpPr>
        <p:spPr>
          <a:xfrm>
            <a:off x="952560" y="3529080"/>
            <a:ext cx="4695480" cy="657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Pipeline Sequencial:</a:t>
            </a:r>
            <a:endParaRPr lang="pt-BR" sz="13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Google Shape;196;p20"/>
          <p:cNvSpPr/>
          <p:nvPr/>
        </p:nvSpPr>
        <p:spPr>
          <a:xfrm>
            <a:off x="952560" y="4376880"/>
            <a:ext cx="4695480" cy="657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Flexibilidade Dinâmica:</a:t>
            </a:r>
            <a:endParaRPr lang="pt-BR" sz="13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Google Shape;197;p20"/>
          <p:cNvSpPr/>
          <p:nvPr/>
        </p:nvSpPr>
        <p:spPr>
          <a:xfrm>
            <a:off x="952560" y="2938320"/>
            <a:ext cx="46954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5569"/>
                </a:solidFill>
                <a:latin typeface="Plus Jakarta Sans"/>
                <a:ea typeface="Plus Jakarta Sans"/>
              </a:rPr>
              <a:t>Quem envia a requisição não precisa conhecer quem irá processá-la.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Google Shape;198;p20"/>
          <p:cNvSpPr/>
          <p:nvPr/>
        </p:nvSpPr>
        <p:spPr>
          <a:xfrm>
            <a:off x="952560" y="3786120"/>
            <a:ext cx="46954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5569"/>
                </a:solidFill>
                <a:latin typeface="Plus Jakarta Sans"/>
                <a:ea typeface="Plus Jakarta Sans"/>
              </a:rPr>
              <a:t>Cada handler decide processar ou repassar para o próximo elemento da fila.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Google Shape;199;p20"/>
          <p:cNvSpPr/>
          <p:nvPr/>
        </p:nvSpPr>
        <p:spPr>
          <a:xfrm>
            <a:off x="952560" y="4633920"/>
            <a:ext cx="46954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5569"/>
                </a:solidFill>
                <a:latin typeface="Plus Jakarta Sans"/>
                <a:ea typeface="Plus Jakarta Sans"/>
              </a:rPr>
              <a:t>Adicione ou remova verificações sem alterar o código do cliente.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204;p21"/>
          <p:cNvSpPr/>
          <p:nvPr/>
        </p:nvSpPr>
        <p:spPr>
          <a:xfrm>
            <a:off x="609480" y="1643400"/>
            <a:ext cx="10972440" cy="5055120"/>
          </a:xfrm>
          <a:prstGeom prst="roundRect">
            <a:avLst>
              <a:gd name="adj" fmla="val 4178"/>
            </a:avLst>
          </a:prstGeom>
          <a:solidFill>
            <a:srgbClr val="0F172A"/>
          </a:solidFill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Google Shape;205;p21"/>
          <p:cNvSpPr/>
          <p:nvPr/>
        </p:nvSpPr>
        <p:spPr>
          <a:xfrm>
            <a:off x="609480" y="457200"/>
            <a:ext cx="115819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563EB"/>
                </a:solidFill>
                <a:latin typeface="Plus Jakarta Sans"/>
                <a:ea typeface="Plus Jakarta Sans"/>
              </a:rPr>
              <a:t>CHAIN OF RESPONSIBILITY</a:t>
            </a:r>
            <a:endParaRPr lang="pt-BR" sz="10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Google Shape;206;p21"/>
          <p:cNvSpPr/>
          <p:nvPr/>
        </p:nvSpPr>
        <p:spPr>
          <a:xfrm>
            <a:off x="609480" y="704880"/>
            <a:ext cx="1158192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Aplicação no Código (Middleware System)</a:t>
            </a:r>
            <a:endParaRPr lang="pt-BR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Google Shape;207;p21"/>
          <p:cNvSpPr/>
          <p:nvPr/>
        </p:nvSpPr>
        <p:spPr>
          <a:xfrm>
            <a:off x="1069560" y="2000520"/>
            <a:ext cx="10052640" cy="434052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abstract class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Handler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{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private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next: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Handler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|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null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=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null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;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public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</a:t>
            </a:r>
            <a:r>
              <a:rPr lang="en-US" sz="1200" b="0" u="none" strike="noStrike">
                <a:solidFill>
                  <a:srgbClr val="38BDF8"/>
                </a:solidFill>
                <a:latin typeface="JetBrains Mono"/>
                <a:ea typeface="JetBrains Mono"/>
              </a:rPr>
              <a:t>setNext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(h: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Handler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):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Handler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{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this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.next = h;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return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h; }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 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public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</a:t>
            </a:r>
            <a:r>
              <a:rPr lang="en-US" sz="1200" b="0" u="none" strike="noStrike">
                <a:solidFill>
                  <a:srgbClr val="38BDF8"/>
                </a:solidFill>
                <a:latin typeface="JetBrains Mono"/>
                <a:ea typeface="JetBrains Mono"/>
              </a:rPr>
              <a:t>handle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(req: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any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):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boolean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{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  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if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(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this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.next)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return this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.next.</a:t>
            </a:r>
            <a:r>
              <a:rPr lang="en-US" sz="1200" b="0" u="none" strike="noStrike">
                <a:solidFill>
                  <a:srgbClr val="38BDF8"/>
                </a:solidFill>
                <a:latin typeface="JetBrains Mono"/>
                <a:ea typeface="JetBrains Mono"/>
              </a:rPr>
              <a:t>handle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(req);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  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return true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;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 }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}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class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AuthHandler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extends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Handler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{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public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</a:t>
            </a:r>
            <a:r>
              <a:rPr lang="en-US" sz="1200" b="0" u="none" strike="noStrike">
                <a:solidFill>
                  <a:srgbClr val="38BDF8"/>
                </a:solidFill>
                <a:latin typeface="JetBrains Mono"/>
                <a:ea typeface="JetBrains Mono"/>
              </a:rPr>
              <a:t>handle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(req: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any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):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boolean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{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  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if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(!req.isAuth)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return false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; </a:t>
            </a:r>
            <a:r>
              <a:rPr lang="en-US" sz="1200" b="0" i="1" u="none" strike="noStrike">
                <a:solidFill>
                  <a:srgbClr val="64748B"/>
                </a:solidFill>
                <a:latin typeface="JetBrains Mono"/>
                <a:ea typeface="JetBrains Mono"/>
              </a:rPr>
              <a:t>// Interrompe a corrente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  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return super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.</a:t>
            </a:r>
            <a:r>
              <a:rPr lang="en-US" sz="1200" b="0" u="none" strike="noStrike">
                <a:solidFill>
                  <a:srgbClr val="38BDF8"/>
                </a:solidFill>
                <a:latin typeface="JetBrains Mono"/>
                <a:ea typeface="JetBrains Mono"/>
              </a:rPr>
              <a:t>handle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(req);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 }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}</a:t>
            </a:r>
            <a:r>
              <a:rPr lang="en-US" sz="1100" b="0" u="none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lang="pt-BR" sz="11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212;p22"/>
          <p:cNvSpPr/>
          <p:nvPr/>
        </p:nvSpPr>
        <p:spPr>
          <a:xfrm>
            <a:off x="609480" y="2955960"/>
            <a:ext cx="3504960" cy="1879920"/>
          </a:xfrm>
          <a:prstGeom prst="roundRect">
            <a:avLst>
              <a:gd name="adj" fmla="val 6945"/>
            </a:avLst>
          </a:prstGeom>
          <a:solidFill>
            <a:srgbClr val="F0F9FF"/>
          </a:solidFill>
          <a:ln w="9525">
            <a:solidFill>
              <a:srgbClr val="BAE6FD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Google Shape;213;p22"/>
          <p:cNvSpPr/>
          <p:nvPr/>
        </p:nvSpPr>
        <p:spPr>
          <a:xfrm>
            <a:off x="4343400" y="2955600"/>
            <a:ext cx="3504960" cy="1879920"/>
          </a:xfrm>
          <a:prstGeom prst="roundRect">
            <a:avLst>
              <a:gd name="adj" fmla="val 6985"/>
            </a:avLst>
          </a:prstGeom>
          <a:solidFill>
            <a:srgbClr val="F0FDF4"/>
          </a:solidFill>
          <a:ln w="9525">
            <a:solidFill>
              <a:srgbClr val="BBF7D0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Google Shape;214;p22"/>
          <p:cNvSpPr/>
          <p:nvPr/>
        </p:nvSpPr>
        <p:spPr>
          <a:xfrm>
            <a:off x="8077320" y="2955600"/>
            <a:ext cx="3504960" cy="1879560"/>
          </a:xfrm>
          <a:prstGeom prst="roundRect">
            <a:avLst>
              <a:gd name="adj" fmla="val 6079"/>
            </a:avLst>
          </a:prstGeom>
          <a:solidFill>
            <a:srgbClr val="FFF1F2"/>
          </a:solidFill>
          <a:ln w="9525">
            <a:solidFill>
              <a:srgbClr val="FECDD3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6" name="Google Shape;215;p22" descr="imag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85960" y="3333600"/>
            <a:ext cx="14256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" name="Google Shape;216;p22" descr="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95760" y="3333600"/>
            <a:ext cx="19008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Google Shape;217;p22" descr="image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353440" y="3333600"/>
            <a:ext cx="2376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Google Shape;218;p22"/>
          <p:cNvSpPr/>
          <p:nvPr/>
        </p:nvSpPr>
        <p:spPr>
          <a:xfrm>
            <a:off x="609480" y="457200"/>
            <a:ext cx="115819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563EB"/>
                </a:solidFill>
                <a:latin typeface="Plus Jakarta Sans"/>
                <a:ea typeface="Plus Jakarta Sans"/>
              </a:rPr>
              <a:t>CHAIN OF RESPONSIBILITY</a:t>
            </a:r>
            <a:endParaRPr lang="pt-BR" sz="10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Google Shape;219;p22"/>
          <p:cNvSpPr/>
          <p:nvPr/>
        </p:nvSpPr>
        <p:spPr>
          <a:xfrm>
            <a:off x="609480" y="704880"/>
            <a:ext cx="1158192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Explicação &amp; Trade-offs</a:t>
            </a:r>
            <a:endParaRPr lang="pt-BR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Google Shape;220;p22"/>
          <p:cNvSpPr/>
          <p:nvPr/>
        </p:nvSpPr>
        <p:spPr>
          <a:xfrm>
            <a:off x="914400" y="3313440"/>
            <a:ext cx="2999880" cy="23076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21924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369A1"/>
                </a:solidFill>
                <a:latin typeface="Plus Jakarta Sans"/>
                <a:ea typeface="Plus Jakarta Sans"/>
              </a:rPr>
              <a:t>Explicação Prática</a:t>
            </a:r>
            <a:endParaRPr lang="pt-BR" sz="15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Google Shape;221;p22"/>
          <p:cNvSpPr/>
          <p:nvPr/>
        </p:nvSpPr>
        <p:spPr>
          <a:xfrm>
            <a:off x="838080" y="3683880"/>
            <a:ext cx="3047760" cy="77544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C4A6E"/>
                </a:solidFill>
                <a:highlight>
                  <a:srgbClr val="F0F9FF"/>
                </a:highlight>
                <a:latin typeface="Plus Jakarta Sans"/>
                <a:ea typeface="Plus Jakarta Sans"/>
              </a:rPr>
              <a:t>A requisição passa por </a:t>
            </a:r>
            <a:r>
              <a:rPr lang="en-US" sz="1200" b="0" u="none" strike="noStrike">
                <a:solidFill>
                  <a:srgbClr val="0C4A6E"/>
                </a:solidFill>
                <a:highlight>
                  <a:srgbClr val="E0F2FE"/>
                </a:highlight>
                <a:latin typeface="Roboto Mono"/>
                <a:ea typeface="Roboto Mono"/>
              </a:rPr>
              <a:t>AuthHandler</a:t>
            </a:r>
            <a:r>
              <a:rPr lang="en-US" sz="1200" b="0" u="none" strike="noStrike">
                <a:solidFill>
                  <a:srgbClr val="0C4A6E"/>
                </a:solidFill>
                <a:highlight>
                  <a:srgbClr val="F0F9FF"/>
                </a:highlight>
                <a:latin typeface="Plus Jakarta Sans"/>
                <a:ea typeface="Plus Jakarta Sans"/>
              </a:rPr>
              <a:t>. Se falhar, é bloqueada imediatamente sem executar os passos subsequentes.</a:t>
            </a:r>
            <a:r>
              <a:rPr lang="en-US" sz="1100" b="0" u="none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lang="pt-BR" sz="1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Google Shape;222;p22"/>
          <p:cNvSpPr/>
          <p:nvPr/>
        </p:nvSpPr>
        <p:spPr>
          <a:xfrm>
            <a:off x="4669200" y="3313440"/>
            <a:ext cx="2853720" cy="23076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26676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5803D"/>
                </a:solidFill>
                <a:latin typeface="Plus Jakarta Sans"/>
                <a:ea typeface="Plus Jakarta Sans"/>
              </a:rPr>
              <a:t>Vantagens</a:t>
            </a:r>
            <a:endParaRPr lang="pt-BR" sz="15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Google Shape;223;p22"/>
          <p:cNvSpPr/>
          <p:nvPr/>
        </p:nvSpPr>
        <p:spPr>
          <a:xfrm>
            <a:off x="4619520" y="3706200"/>
            <a:ext cx="3047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4532D"/>
                </a:solidFill>
                <a:latin typeface="Plus Jakarta Sans"/>
                <a:ea typeface="Plus Jakarta Sans"/>
              </a:rPr>
              <a:t>Princípio da Responsabilidade Única (SRP) e Open/Closed (OCP). Facilidade de Reordenação de etapas.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Google Shape;224;p22"/>
          <p:cNvSpPr/>
          <p:nvPr/>
        </p:nvSpPr>
        <p:spPr>
          <a:xfrm>
            <a:off x="8353440" y="3313440"/>
            <a:ext cx="2804040" cy="23076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31428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E123C"/>
                </a:solidFill>
                <a:latin typeface="Plus Jakarta Sans"/>
                <a:ea typeface="Plus Jakarta Sans"/>
              </a:rPr>
              <a:t>Trade-offs</a:t>
            </a:r>
            <a:endParaRPr lang="pt-BR" sz="15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Google Shape;225;p22"/>
          <p:cNvSpPr/>
          <p:nvPr/>
        </p:nvSpPr>
        <p:spPr>
          <a:xfrm>
            <a:off x="8353440" y="3706200"/>
            <a:ext cx="3170520" cy="77544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81337"/>
                </a:solidFill>
                <a:highlight>
                  <a:srgbClr val="FFF1F2"/>
                </a:highlight>
                <a:latin typeface="Plus Jakarta Sans"/>
                <a:ea typeface="Plus Jakarta Sans"/>
              </a:rPr>
              <a:t>Requisições podem ficar sem atendimento se nenhum handler a tratar; maior dificuldade no rastreio de depuração.</a:t>
            </a:r>
            <a:r>
              <a:rPr lang="en-US" sz="1100" b="0" u="none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lang="pt-BR" sz="11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09600" y="1314450"/>
            <a:ext cx="3530649" cy="5086350"/>
          </a:xfrm>
          <a:prstGeom prst="roundRect">
            <a:avLst>
              <a:gd name="adj" fmla="val 43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749" y="1314450"/>
            <a:ext cx="3530649" cy="5086350"/>
          </a:xfrm>
          <a:prstGeom prst="roundRect">
            <a:avLst>
              <a:gd name="adj" fmla="val 43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899" y="1314450"/>
            <a:ext cx="3530649" cy="5086350"/>
          </a:xfrm>
          <a:prstGeom prst="roundRect">
            <a:avLst>
              <a:gd name="adj" fmla="val 43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47725" y="5374183"/>
            <a:ext cx="3054399" cy="788491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68874" y="5374183"/>
            <a:ext cx="3054399" cy="788491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90024" y="5374183"/>
            <a:ext cx="3054399" cy="788491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7725" y="5374183"/>
            <a:ext cx="38100" cy="788491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68874" y="5374183"/>
            <a:ext cx="38100" cy="788491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90024" y="5374183"/>
            <a:ext cx="38100" cy="788491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566862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874" y="1566862"/>
            <a:ext cx="19050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0024" y="1566862"/>
            <a:ext cx="190500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7725" y="1885950"/>
            <a:ext cx="31496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"Qual a diferença real para uma sequência simples de IFs ou Decorator?"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125" y="5488483"/>
            <a:ext cx="2882949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3730A3"/>
                </a:solidFill>
                <a:latin typeface="Plus Jakarta Sans"/>
              </a:rPr>
              <a:t>Resposta:</a:t>
            </a:r>
            <a:r>
              <a:rPr sz="1050" b="0" i="0" u="none">
                <a:solidFill>
                  <a:srgbClr val="3730A3"/>
                </a:solidFill>
                <a:latin typeface="Plus Jakarta Sans"/>
              </a:rPr>
              <a:t> Permite ordem dinâmica, interceptação antecipada e desacoplamento do emissor.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8874" y="1885950"/>
            <a:ext cx="31496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"E se nenhum handler na corrente processar a requisição enviada?"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1274" y="5488483"/>
            <a:ext cx="2882949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3730A3"/>
                </a:solidFill>
                <a:latin typeface="Plus Jakarta Sans"/>
              </a:rPr>
              <a:t>Resposta:</a:t>
            </a:r>
            <a:r>
              <a:rPr sz="1050" b="0" i="0" u="none">
                <a:solidFill>
                  <a:srgbClr val="3730A3"/>
                </a:solidFill>
                <a:latin typeface="Plus Jakarta Sans"/>
              </a:rPr>
              <a:t> A requisição cai no limbo a menos que haja um NullHandler/DefaultHandler ao final.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0024" y="1885950"/>
            <a:ext cx="31496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"Passar por dezenas de handlers não prejudica o desempenho do sistema?"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2424" y="5488483"/>
            <a:ext cx="2882949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3730A3"/>
                </a:solidFill>
                <a:latin typeface="Plus Jakarta Sans"/>
              </a:rPr>
              <a:t>Resposta:</a:t>
            </a:r>
            <a:r>
              <a:rPr sz="1050" b="0" i="0" u="none">
                <a:solidFill>
                  <a:srgbClr val="3730A3"/>
                </a:solidFill>
                <a:latin typeface="Plus Jakarta Sans"/>
              </a:rPr>
              <a:t> Overhead de chamada de método é irrelevante frente a I/O, mas exige atenção na ordem.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475" y="1552575"/>
            <a:ext cx="256282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Chain vs Decorator / IFs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54624" y="1552575"/>
            <a:ext cx="276284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Requisição sem Resposta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5774" y="1552575"/>
            <a:ext cx="27003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Gargalo de Performance</a:t>
            </a:r>
          </a:p>
        </p:txBody>
      </p:sp>
      <p:sp>
        <p:nvSpPr>
          <p:cNvPr id="28" name="Google Shape;218;p22">
            <a:extLst>
              <a:ext uri="{FF2B5EF4-FFF2-40B4-BE49-F238E27FC236}">
                <a16:creationId xmlns:a16="http://schemas.microsoft.com/office/drawing/2014/main" id="{2E46DBAD-AE6A-16D6-EA3C-C4A37B37E8FD}"/>
              </a:ext>
            </a:extLst>
          </p:cNvPr>
          <p:cNvSpPr/>
          <p:nvPr/>
        </p:nvSpPr>
        <p:spPr>
          <a:xfrm>
            <a:off x="609480" y="457200"/>
            <a:ext cx="115819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563EB"/>
                </a:solidFill>
                <a:latin typeface="Plus Jakarta Sans"/>
                <a:ea typeface="Plus Jakarta Sans"/>
              </a:rPr>
              <a:t>CHAIN OF RESPONSIBILITY</a:t>
            </a:r>
            <a:endParaRPr lang="pt-BR" sz="10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Google Shape;219;p22">
            <a:extLst>
              <a:ext uri="{FF2B5EF4-FFF2-40B4-BE49-F238E27FC236}">
                <a16:creationId xmlns:a16="http://schemas.microsoft.com/office/drawing/2014/main" id="{9B2AE57D-5D9F-B5B0-40E1-C14563422719}"/>
              </a:ext>
            </a:extLst>
          </p:cNvPr>
          <p:cNvSpPr/>
          <p:nvPr/>
        </p:nvSpPr>
        <p:spPr>
          <a:xfrm>
            <a:off x="609480" y="704880"/>
            <a:ext cx="1158192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2400" b="1" dirty="0">
                <a:solidFill>
                  <a:srgbClr val="0F172A"/>
                </a:solidFill>
                <a:latin typeface="Plus Jakarta Sans"/>
              </a:rPr>
              <a:t>Chain of Responsibility: </a:t>
            </a:r>
            <a:r>
              <a:rPr lang="en-US" sz="2400" b="1" dirty="0" err="1">
                <a:solidFill>
                  <a:srgbClr val="0F172A"/>
                </a:solidFill>
                <a:latin typeface="Plus Jakarta Sans"/>
              </a:rPr>
              <a:t>Perguntas</a:t>
            </a:r>
            <a:r>
              <a:rPr lang="en-US" sz="2400" b="1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lang="en-US" sz="2400" b="1" dirty="0" err="1">
                <a:solidFill>
                  <a:srgbClr val="0F172A"/>
                </a:solidFill>
                <a:latin typeface="Plus Jakarta Sans"/>
              </a:rPr>
              <a:t>Frequentes</a:t>
            </a:r>
            <a:endParaRPr lang="en-US" sz="2400" dirty="0" err="1">
              <a:solidFill>
                <a:srgbClr val="000000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4231526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230;p23"/>
          <p:cNvSpPr/>
          <p:nvPr/>
        </p:nvSpPr>
        <p:spPr>
          <a:xfrm>
            <a:off x="609480" y="2666880"/>
            <a:ext cx="1158192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8FAFC"/>
                </a:solidFill>
                <a:latin typeface="Plus Jakarta Sans"/>
                <a:ea typeface="Plus Jakarta Sans"/>
              </a:rPr>
              <a:t>TÓPICO 03</a:t>
            </a:r>
            <a:endParaRPr lang="pt-BR" sz="1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Google Shape;231;p23"/>
          <p:cNvSpPr/>
          <p:nvPr/>
        </p:nvSpPr>
        <p:spPr>
          <a:xfrm>
            <a:off x="609480" y="2981160"/>
            <a:ext cx="11581920" cy="58068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latin typeface="Plus Jakarta Sans"/>
                <a:ea typeface="Plus Jakarta Sans"/>
              </a:rPr>
              <a:t>Command Pattern</a:t>
            </a:r>
            <a:endParaRPr lang="pt-BR" sz="36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Google Shape;232;p23"/>
          <p:cNvSpPr/>
          <p:nvPr/>
        </p:nvSpPr>
        <p:spPr>
          <a:xfrm>
            <a:off x="609480" y="3714840"/>
            <a:ext cx="6571800" cy="47592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CFBF1"/>
                </a:solidFill>
                <a:latin typeface="Plus Jakarta Sans"/>
                <a:ea typeface="Plus Jakarta Sans"/>
              </a:rPr>
              <a:t>Transformação de ações em objetos de primeira classe com suporte a filas e desfazer operações.</a:t>
            </a:r>
            <a:endParaRPr lang="pt-BR" sz="15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237;p24"/>
          <p:cNvSpPr/>
          <p:nvPr/>
        </p:nvSpPr>
        <p:spPr>
          <a:xfrm>
            <a:off x="5857920" y="2776680"/>
            <a:ext cx="5724000" cy="2161800"/>
          </a:xfrm>
          <a:prstGeom prst="roundRect">
            <a:avLst>
              <a:gd name="adj" fmla="val 7048"/>
            </a:avLst>
          </a:prstGeom>
          <a:solidFill>
            <a:srgbClr val="F0FDF4"/>
          </a:solidFill>
          <a:ln w="9525">
            <a:solidFill>
              <a:srgbClr val="CCFBF1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1" name="Google Shape;238;p24" descr="imag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415360" y="3166920"/>
            <a:ext cx="609120" cy="60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" name="Google Shape;239;p24" descr="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480" y="2795760"/>
            <a:ext cx="1900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3" name="Google Shape;240;p24" descr="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480" y="3643200"/>
            <a:ext cx="1900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4" name="Google Shape;241;p24" descr="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480" y="4491000"/>
            <a:ext cx="19008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Google Shape;242;p24"/>
          <p:cNvSpPr/>
          <p:nvPr/>
        </p:nvSpPr>
        <p:spPr>
          <a:xfrm>
            <a:off x="609480" y="457200"/>
            <a:ext cx="115819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563EB"/>
                </a:solidFill>
                <a:latin typeface="Plus Jakarta Sans"/>
                <a:ea typeface="Plus Jakarta Sans"/>
              </a:rPr>
              <a:t>COMMAND PATTERN</a:t>
            </a:r>
            <a:endParaRPr lang="pt-BR" sz="10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Google Shape;243;p24"/>
          <p:cNvSpPr/>
          <p:nvPr/>
        </p:nvSpPr>
        <p:spPr>
          <a:xfrm>
            <a:off x="609480" y="704880"/>
            <a:ext cx="1158192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Entendimento do Conceito</a:t>
            </a:r>
            <a:endParaRPr lang="pt-BR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Google Shape;244;p24"/>
          <p:cNvSpPr/>
          <p:nvPr/>
        </p:nvSpPr>
        <p:spPr>
          <a:xfrm>
            <a:off x="5475960" y="4005360"/>
            <a:ext cx="648792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Command Wrapper</a:t>
            </a:r>
            <a:endParaRPr lang="pt-BR" sz="16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Google Shape;245;p24"/>
          <p:cNvSpPr/>
          <p:nvPr/>
        </p:nvSpPr>
        <p:spPr>
          <a:xfrm>
            <a:off x="5630400" y="4348080"/>
            <a:ext cx="617904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F766E"/>
                </a:solidFill>
                <a:latin typeface="Plus Jakarta Sans"/>
                <a:ea typeface="Plus Jakarta Sans"/>
              </a:rPr>
              <a:t>Interface { execute(), undo() }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Google Shape;246;p24"/>
          <p:cNvSpPr/>
          <p:nvPr/>
        </p:nvSpPr>
        <p:spPr>
          <a:xfrm>
            <a:off x="952560" y="2781360"/>
            <a:ext cx="4695480" cy="657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Ações como Objetos:</a:t>
            </a:r>
            <a:endParaRPr lang="pt-BR" sz="13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Google Shape;247;p24"/>
          <p:cNvSpPr/>
          <p:nvPr/>
        </p:nvSpPr>
        <p:spPr>
          <a:xfrm>
            <a:off x="952560" y="3629160"/>
            <a:ext cx="4695480" cy="657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Suporte a Reversão (Undo/Redo):</a:t>
            </a:r>
            <a:endParaRPr lang="pt-BR" sz="13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Google Shape;248;p24"/>
          <p:cNvSpPr/>
          <p:nvPr/>
        </p:nvSpPr>
        <p:spPr>
          <a:xfrm>
            <a:off x="952560" y="4476600"/>
            <a:ext cx="4600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Agendamento e Filas:</a:t>
            </a:r>
            <a:endParaRPr lang="pt-BR" sz="13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Google Shape;249;p24"/>
          <p:cNvSpPr/>
          <p:nvPr/>
        </p:nvSpPr>
        <p:spPr>
          <a:xfrm>
            <a:off x="952560" y="3038400"/>
            <a:ext cx="46954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5569"/>
                </a:solidFill>
                <a:latin typeface="Plus Jakarta Sans"/>
                <a:ea typeface="Plus Jakarta Sans"/>
              </a:rPr>
              <a:t>Encapsula todos os parâmetros e contextos de uma chamada em uma classe isolada.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Google Shape;250;p24"/>
          <p:cNvSpPr/>
          <p:nvPr/>
        </p:nvSpPr>
        <p:spPr>
          <a:xfrm>
            <a:off x="952560" y="3886200"/>
            <a:ext cx="46954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5569"/>
                </a:solidFill>
                <a:latin typeface="Plus Jakarta Sans"/>
                <a:ea typeface="Plus Jakarta Sans"/>
              </a:rPr>
              <a:t>Facilita o armazenamento do histórico de operações executadas para desfazer alterações.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Google Shape;251;p24"/>
          <p:cNvSpPr/>
          <p:nvPr/>
        </p:nvSpPr>
        <p:spPr>
          <a:xfrm>
            <a:off x="952560" y="4734000"/>
            <a:ext cx="563112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5569"/>
                </a:solidFill>
                <a:latin typeface="Plus Jakarta Sans"/>
                <a:ea typeface="Plus Jakarta Sans"/>
              </a:rPr>
              <a:t>Permite enfileirar tarefas para execução diferida ou assíncrona.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256;p25"/>
          <p:cNvSpPr/>
          <p:nvPr/>
        </p:nvSpPr>
        <p:spPr>
          <a:xfrm>
            <a:off x="609480" y="1735920"/>
            <a:ext cx="10972440" cy="4384080"/>
          </a:xfrm>
          <a:prstGeom prst="roundRect">
            <a:avLst>
              <a:gd name="adj" fmla="val 5230"/>
            </a:avLst>
          </a:prstGeom>
          <a:solidFill>
            <a:srgbClr val="0F172A"/>
          </a:solidFill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Google Shape;257;p25"/>
          <p:cNvSpPr/>
          <p:nvPr/>
        </p:nvSpPr>
        <p:spPr>
          <a:xfrm>
            <a:off x="609480" y="457200"/>
            <a:ext cx="115819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563EB"/>
                </a:solidFill>
                <a:latin typeface="Plus Jakarta Sans"/>
                <a:ea typeface="Plus Jakarta Sans"/>
              </a:rPr>
              <a:t>COMMAND PATTERN</a:t>
            </a:r>
            <a:endParaRPr lang="pt-BR" sz="10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Google Shape;258;p25"/>
          <p:cNvSpPr/>
          <p:nvPr/>
        </p:nvSpPr>
        <p:spPr>
          <a:xfrm>
            <a:off x="609480" y="704880"/>
            <a:ext cx="11581920" cy="36612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Aplicação</a:t>
            </a:r>
            <a:r>
              <a:rPr lang="en-US" sz="240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 no Código (TransferCommand)</a:t>
            </a:r>
            <a:endParaRPr lang="pt-BR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Google Shape;259;p25"/>
          <p:cNvSpPr/>
          <p:nvPr/>
        </p:nvSpPr>
        <p:spPr>
          <a:xfrm>
            <a:off x="1122480" y="1976400"/>
            <a:ext cx="9946800" cy="384048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interface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Command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{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    </a:t>
            </a:r>
            <a:r>
              <a:rPr lang="en-US" sz="1200" b="0" u="none" strike="noStrike">
                <a:solidFill>
                  <a:srgbClr val="38BDF8"/>
                </a:solidFill>
                <a:latin typeface="JetBrains Mono"/>
                <a:ea typeface="JetBrains Mono"/>
              </a:rPr>
              <a:t>execute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():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void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;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8BDF8"/>
                </a:solidFill>
                <a:latin typeface="JetBrains Mono"/>
                <a:ea typeface="JetBrains Mono"/>
              </a:rPr>
              <a:t>     undo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():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void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;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}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class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TransferCommand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implements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Command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{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   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constructor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(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        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private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acc: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BankAccount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, 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        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private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valor: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number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    ) {}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 lvl="1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   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public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</a:t>
            </a:r>
            <a:r>
              <a:rPr lang="en-US" sz="1200" b="0" u="none" strike="noStrike">
                <a:solidFill>
                  <a:srgbClr val="38BDF8"/>
                </a:solidFill>
                <a:latin typeface="JetBrains Mono"/>
                <a:ea typeface="JetBrains Mono"/>
              </a:rPr>
              <a:t>execute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():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void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{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this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.acc.</a:t>
            </a:r>
            <a:r>
              <a:rPr lang="en-US" sz="1200" b="0" u="none" strike="noStrike">
                <a:solidFill>
                  <a:srgbClr val="38BDF8"/>
                </a:solidFill>
                <a:latin typeface="JetBrains Mono"/>
                <a:ea typeface="JetBrains Mono"/>
              </a:rPr>
              <a:t>sacar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(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this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.valor); }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   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public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</a:t>
            </a:r>
            <a:r>
              <a:rPr lang="en-US" sz="1200" b="0" u="none" strike="noStrike">
                <a:solidFill>
                  <a:srgbClr val="38BDF8"/>
                </a:solidFill>
                <a:latin typeface="JetBrains Mono"/>
                <a:ea typeface="JetBrains Mono"/>
              </a:rPr>
              <a:t>undo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():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void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{ 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this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.acc.</a:t>
            </a:r>
            <a:r>
              <a:rPr lang="en-US" sz="1200" b="0" u="none" strike="noStrike">
                <a:solidFill>
                  <a:srgbClr val="38BDF8"/>
                </a:solidFill>
                <a:latin typeface="JetBrains Mono"/>
                <a:ea typeface="JetBrains Mono"/>
              </a:rPr>
              <a:t>sacar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(-</a:t>
            </a: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this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.valor); }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}</a:t>
            </a:r>
            <a:r>
              <a:rPr lang="en-US" sz="1100" b="0" u="none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lang="pt-BR" sz="11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264;p26"/>
          <p:cNvSpPr/>
          <p:nvPr/>
        </p:nvSpPr>
        <p:spPr>
          <a:xfrm>
            <a:off x="609480" y="3067920"/>
            <a:ext cx="3504960" cy="1654920"/>
          </a:xfrm>
          <a:prstGeom prst="roundRect">
            <a:avLst>
              <a:gd name="adj" fmla="val 6905"/>
            </a:avLst>
          </a:prstGeom>
          <a:solidFill>
            <a:srgbClr val="F0FDF4"/>
          </a:solidFill>
          <a:ln w="9525">
            <a:solidFill>
              <a:srgbClr val="CCFBF1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Google Shape;265;p26"/>
          <p:cNvSpPr/>
          <p:nvPr/>
        </p:nvSpPr>
        <p:spPr>
          <a:xfrm>
            <a:off x="4343400" y="3077640"/>
            <a:ext cx="3504960" cy="1635840"/>
          </a:xfrm>
          <a:prstGeom prst="roundRect">
            <a:avLst>
              <a:gd name="adj" fmla="val 6985"/>
            </a:avLst>
          </a:prstGeom>
          <a:solidFill>
            <a:srgbClr val="F0FDF4"/>
          </a:solidFill>
          <a:ln w="9525">
            <a:solidFill>
              <a:srgbClr val="BBF7D0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Google Shape;266;p26"/>
          <p:cNvSpPr/>
          <p:nvPr/>
        </p:nvSpPr>
        <p:spPr>
          <a:xfrm>
            <a:off x="8077320" y="3077640"/>
            <a:ext cx="3504960" cy="1635840"/>
          </a:xfrm>
          <a:prstGeom prst="roundRect">
            <a:avLst>
              <a:gd name="adj" fmla="val 6985"/>
            </a:avLst>
          </a:prstGeom>
          <a:solidFill>
            <a:srgbClr val="FFF1F2"/>
          </a:solidFill>
          <a:ln w="9525">
            <a:solidFill>
              <a:srgbClr val="FECDD3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Google Shape;267;p26"/>
          <p:cNvSpPr/>
          <p:nvPr/>
        </p:nvSpPr>
        <p:spPr>
          <a:xfrm>
            <a:off x="1504800" y="3715920"/>
            <a:ext cx="1485720" cy="218880"/>
          </a:xfrm>
          <a:prstGeom prst="roundRect">
            <a:avLst>
              <a:gd name="adj" fmla="val 17391"/>
            </a:avLst>
          </a:prstGeom>
          <a:solidFill>
            <a:srgbClr val="E6FFFA"/>
          </a:solidFill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Google Shape;268;p26"/>
          <p:cNvSpPr/>
          <p:nvPr/>
        </p:nvSpPr>
        <p:spPr>
          <a:xfrm>
            <a:off x="1695600" y="4212720"/>
            <a:ext cx="662760" cy="218880"/>
          </a:xfrm>
          <a:prstGeom prst="roundRect">
            <a:avLst>
              <a:gd name="adj" fmla="val 17391"/>
            </a:avLst>
          </a:prstGeom>
          <a:solidFill>
            <a:srgbClr val="E6FFFA"/>
          </a:solidFill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4" name="Google Shape;269;p26" descr="imag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85960" y="3382560"/>
            <a:ext cx="14256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5" name="Google Shape;270;p26" descr="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619520" y="3391920"/>
            <a:ext cx="19008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6" name="Google Shape;271;p26" descr="image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353440" y="3391920"/>
            <a:ext cx="2376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Google Shape;272;p26"/>
          <p:cNvSpPr/>
          <p:nvPr/>
        </p:nvSpPr>
        <p:spPr>
          <a:xfrm>
            <a:off x="609480" y="457200"/>
            <a:ext cx="115819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563EB"/>
                </a:solidFill>
                <a:latin typeface="Plus Jakarta Sans"/>
                <a:ea typeface="Plus Jakarta Sans"/>
              </a:rPr>
              <a:t>COMMAND PATTERN</a:t>
            </a:r>
            <a:endParaRPr lang="pt-BR" sz="10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Google Shape;273;p26"/>
          <p:cNvSpPr/>
          <p:nvPr/>
        </p:nvSpPr>
        <p:spPr>
          <a:xfrm>
            <a:off x="609480" y="704880"/>
            <a:ext cx="1158192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Explicação &amp; Trade-offs</a:t>
            </a:r>
            <a:endParaRPr lang="pt-BR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Google Shape;274;p26"/>
          <p:cNvSpPr/>
          <p:nvPr/>
        </p:nvSpPr>
        <p:spPr>
          <a:xfrm>
            <a:off x="885960" y="3344400"/>
            <a:ext cx="387504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21924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latin typeface="Plus Jakarta Sans"/>
                <a:ea typeface="Plus Jakarta Sans"/>
              </a:rPr>
              <a:t>Explicação Prática</a:t>
            </a:r>
            <a:endParaRPr lang="pt-BR" sz="15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Google Shape;275;p26"/>
          <p:cNvSpPr/>
          <p:nvPr/>
        </p:nvSpPr>
        <p:spPr>
          <a:xfrm>
            <a:off x="885960" y="3696840"/>
            <a:ext cx="3047760" cy="77544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15E59"/>
                </a:solidFill>
                <a:highlight>
                  <a:srgbClr val="F0FDF4"/>
                </a:highlight>
                <a:latin typeface="Plus Jakarta Sans"/>
                <a:ea typeface="Plus Jakarta Sans"/>
              </a:rPr>
              <a:t>A classe </a:t>
            </a:r>
            <a:r>
              <a:rPr lang="en-US" sz="1200" b="0" u="none" strike="noStrike">
                <a:solidFill>
                  <a:srgbClr val="115E59"/>
                </a:solidFill>
                <a:highlight>
                  <a:srgbClr val="E6FFFA"/>
                </a:highlight>
                <a:latin typeface="Roboto Mono"/>
                <a:ea typeface="Roboto Mono"/>
              </a:rPr>
              <a:t>TransferCommand</a:t>
            </a:r>
            <a:r>
              <a:rPr lang="en-US" sz="1200" b="0" u="none" strike="noStrike">
                <a:solidFill>
                  <a:srgbClr val="115E59"/>
                </a:solidFill>
                <a:highlight>
                  <a:srgbClr val="F0FDF4"/>
                </a:highlight>
                <a:latin typeface="Plus Jakarta Sans"/>
                <a:ea typeface="Plus Jakarta Sans"/>
              </a:rPr>
              <a:t> guarda os dados e sabe como reverter a operação chamando </a:t>
            </a:r>
            <a:r>
              <a:rPr lang="en-US" sz="1200" b="0" u="none" strike="noStrike">
                <a:solidFill>
                  <a:srgbClr val="115E59"/>
                </a:solidFill>
                <a:highlight>
                  <a:srgbClr val="E6FFFA"/>
                </a:highlight>
                <a:latin typeface="Roboto Mono"/>
                <a:ea typeface="Roboto Mono"/>
              </a:rPr>
              <a:t>undo()</a:t>
            </a:r>
            <a:r>
              <a:rPr lang="en-US" sz="1200" b="0" u="none" strike="noStrike">
                <a:solidFill>
                  <a:srgbClr val="115E59"/>
                </a:solidFill>
                <a:highlight>
                  <a:srgbClr val="F0FDF4"/>
                </a:highlight>
                <a:latin typeface="Plus Jakarta Sans"/>
                <a:ea typeface="Plus Jakarta Sans"/>
              </a:rPr>
              <a:t>.</a:t>
            </a:r>
            <a:r>
              <a:rPr lang="en-US" sz="1100" b="0" u="none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lang="pt-BR" sz="1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Google Shape;276;p26"/>
          <p:cNvSpPr/>
          <p:nvPr/>
        </p:nvSpPr>
        <p:spPr>
          <a:xfrm>
            <a:off x="4619520" y="3353760"/>
            <a:ext cx="387504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26676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5803D"/>
                </a:solidFill>
                <a:latin typeface="Plus Jakarta Sans"/>
                <a:ea typeface="Plus Jakarta Sans"/>
              </a:rPr>
              <a:t>Vantagens</a:t>
            </a:r>
            <a:endParaRPr lang="pt-BR" sz="15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Google Shape;277;p26"/>
          <p:cNvSpPr/>
          <p:nvPr/>
        </p:nvSpPr>
        <p:spPr>
          <a:xfrm>
            <a:off x="4619520" y="3706200"/>
            <a:ext cx="3047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4532D"/>
                </a:solidFill>
                <a:latin typeface="Plus Jakarta Sans"/>
                <a:ea typeface="Plus Jakarta Sans"/>
              </a:rPr>
              <a:t>Desacoplamento total entre o emissor da ação e a execução de negócios; suporte nativo a histórico e undo.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Google Shape;278;p26"/>
          <p:cNvSpPr/>
          <p:nvPr/>
        </p:nvSpPr>
        <p:spPr>
          <a:xfrm>
            <a:off x="8353440" y="3353760"/>
            <a:ext cx="38383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31428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E123C"/>
                </a:solidFill>
                <a:latin typeface="Plus Jakarta Sans"/>
                <a:ea typeface="Plus Jakarta Sans"/>
              </a:rPr>
              <a:t>Trade-offs</a:t>
            </a:r>
            <a:endParaRPr lang="pt-BR" sz="15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Google Shape;279;p26"/>
          <p:cNvSpPr/>
          <p:nvPr/>
        </p:nvSpPr>
        <p:spPr>
          <a:xfrm>
            <a:off x="8353440" y="3706200"/>
            <a:ext cx="3047760" cy="77544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81337"/>
                </a:solidFill>
                <a:latin typeface="Plus Jakarta Sans"/>
                <a:ea typeface="Plus Jakarta Sans"/>
              </a:rPr>
              <a:t>Proliferação acentuada de pequenas classes para cada comando específico na aplicação.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09600" y="1314450"/>
            <a:ext cx="3530649" cy="5086350"/>
          </a:xfrm>
          <a:prstGeom prst="roundRect">
            <a:avLst>
              <a:gd name="adj" fmla="val 43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749" y="1314450"/>
            <a:ext cx="3530649" cy="5086350"/>
          </a:xfrm>
          <a:prstGeom prst="roundRect">
            <a:avLst>
              <a:gd name="adj" fmla="val 43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899" y="1314450"/>
            <a:ext cx="3530649" cy="5086350"/>
          </a:xfrm>
          <a:prstGeom prst="roundRect">
            <a:avLst>
              <a:gd name="adj" fmla="val 43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47725" y="5374183"/>
            <a:ext cx="3054399" cy="788491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68874" y="5374183"/>
            <a:ext cx="3054399" cy="788491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90024" y="5374183"/>
            <a:ext cx="3054399" cy="788491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7725" y="5374183"/>
            <a:ext cx="38100" cy="788491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68874" y="5374183"/>
            <a:ext cx="38100" cy="788491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90024" y="5374183"/>
            <a:ext cx="38100" cy="788491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566862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874" y="1566862"/>
            <a:ext cx="19050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0024" y="1566862"/>
            <a:ext cx="190500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7725" y="1885950"/>
            <a:ext cx="31496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"Vale a pena criar uma nova classe para cada ação do sistema?"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125" y="5488483"/>
            <a:ext cx="2882949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047857"/>
                </a:solidFill>
                <a:latin typeface="Plus Jakarta Sans"/>
              </a:rPr>
              <a:t>Resposta:</a:t>
            </a:r>
            <a:r>
              <a:rPr sz="1050" b="0" i="0" u="none">
                <a:solidFill>
                  <a:srgbClr val="047857"/>
                </a:solidFill>
                <a:latin typeface="Plus Jakarta Sans"/>
              </a:rPr>
              <a:t> Vale quando precisa de Undo/Redo, filas, histórico ou agendamento. Se simples, evite.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8874" y="1885950"/>
            <a:ext cx="31496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"Como gerenciar estado anterior em operações complexas no banco?"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1274" y="5488483"/>
            <a:ext cx="2882949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047857"/>
                </a:solidFill>
                <a:latin typeface="Plus Jakarta Sans"/>
              </a:rPr>
              <a:t>Resposta:</a:t>
            </a:r>
            <a:r>
              <a:rPr sz="1050" b="0" i="0" u="none">
                <a:solidFill>
                  <a:srgbClr val="047857"/>
                </a:solidFill>
                <a:latin typeface="Plus Jakarta Sans"/>
              </a:rPr>
              <a:t> Combine com Memento para snapshot ou execute transação compensatória (Saga pattern).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0024" y="1885950"/>
            <a:ext cx="31496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"Qual a diferença técnica entre o padrão Command e o Strategy?"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2424" y="5488483"/>
            <a:ext cx="2882949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047857"/>
                </a:solidFill>
                <a:latin typeface="Plus Jakarta Sans"/>
              </a:rPr>
              <a:t>Resposta:</a:t>
            </a:r>
            <a:r>
              <a:rPr sz="1050" b="0" i="0" u="none">
                <a:solidFill>
                  <a:srgbClr val="047857"/>
                </a:solidFill>
                <a:latin typeface="Plus Jakarta Sans"/>
              </a:rPr>
              <a:t> Strategy varia </a:t>
            </a:r>
            <a:r>
              <a:rPr sz="1050" b="0" i="1" u="none">
                <a:solidFill>
                  <a:srgbClr val="047857"/>
                </a:solidFill>
                <a:latin typeface="Plus Jakarta Sans"/>
              </a:rPr>
              <a:t>como</a:t>
            </a:r>
            <a:r>
              <a:rPr sz="1050" b="0" i="0" u="none">
                <a:solidFill>
                  <a:srgbClr val="047857"/>
                </a:solidFill>
                <a:latin typeface="Plus Jakarta Sans"/>
              </a:rPr>
              <a:t> fazer um algoritmo. Command encapsula </a:t>
            </a:r>
            <a:r>
              <a:rPr sz="1050" b="0" i="1" u="none">
                <a:solidFill>
                  <a:srgbClr val="047857"/>
                </a:solidFill>
                <a:latin typeface="Plus Jakarta Sans"/>
              </a:rPr>
              <a:t>o que</a:t>
            </a:r>
            <a:r>
              <a:rPr sz="1050" b="0" i="0" u="none">
                <a:solidFill>
                  <a:srgbClr val="047857"/>
                </a:solidFill>
                <a:latin typeface="Plus Jakarta Sans"/>
              </a:rPr>
              <a:t> executar como objeto.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475" y="1552575"/>
            <a:ext cx="211276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Excesso de Classes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54624" y="1552575"/>
            <a:ext cx="26003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Complexidade no Undo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5774" y="1552575"/>
            <a:ext cx="243780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Command vs Strategy</a:t>
            </a:r>
          </a:p>
        </p:txBody>
      </p:sp>
      <p:sp>
        <p:nvSpPr>
          <p:cNvPr id="28" name="Google Shape;272;p26">
            <a:extLst>
              <a:ext uri="{FF2B5EF4-FFF2-40B4-BE49-F238E27FC236}">
                <a16:creationId xmlns:a16="http://schemas.microsoft.com/office/drawing/2014/main" id="{C97C7D91-E6B9-6277-F2E4-5C5CAA6EF74B}"/>
              </a:ext>
            </a:extLst>
          </p:cNvPr>
          <p:cNvSpPr/>
          <p:nvPr/>
        </p:nvSpPr>
        <p:spPr>
          <a:xfrm>
            <a:off x="609480" y="457200"/>
            <a:ext cx="115819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563EB"/>
                </a:solidFill>
                <a:latin typeface="Plus Jakarta Sans"/>
                <a:ea typeface="Plus Jakarta Sans"/>
              </a:rPr>
              <a:t>COMMAND PATTERN</a:t>
            </a:r>
            <a:endParaRPr lang="pt-BR" sz="10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Google Shape;273;p26">
            <a:extLst>
              <a:ext uri="{FF2B5EF4-FFF2-40B4-BE49-F238E27FC236}">
                <a16:creationId xmlns:a16="http://schemas.microsoft.com/office/drawing/2014/main" id="{4CFB4248-0720-96A9-C48D-BBCFE8F412D1}"/>
              </a:ext>
            </a:extLst>
          </p:cNvPr>
          <p:cNvSpPr/>
          <p:nvPr/>
        </p:nvSpPr>
        <p:spPr>
          <a:xfrm>
            <a:off x="609480" y="704880"/>
            <a:ext cx="1158192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2400" b="1" dirty="0">
                <a:solidFill>
                  <a:srgbClr val="0F172A"/>
                </a:solidFill>
                <a:latin typeface="Plus Jakarta Sans"/>
              </a:rPr>
              <a:t>Command Pattern: </a:t>
            </a:r>
            <a:r>
              <a:rPr lang="en-US" sz="2400" b="1" dirty="0" err="1">
                <a:solidFill>
                  <a:srgbClr val="0F172A"/>
                </a:solidFill>
                <a:latin typeface="Plus Jakarta Sans"/>
              </a:rPr>
              <a:t>Perguntas</a:t>
            </a:r>
            <a:r>
              <a:rPr lang="en-US" sz="2400" b="1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lang="en-US" sz="2400" b="1">
                <a:solidFill>
                  <a:srgbClr val="0F172A"/>
                </a:solidFill>
                <a:latin typeface="Plus Jakarta Sans"/>
              </a:rPr>
              <a:t>Frequentes</a:t>
            </a:r>
            <a:endParaRPr lang="en-US" sz="2400" u="sng">
              <a:solidFill>
                <a:srgbClr val="000000"/>
              </a:solidFill>
              <a:latin typeface="Plus Jakarta Sans"/>
              <a:cs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42463171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84;p27"/>
          <p:cNvSpPr/>
          <p:nvPr/>
        </p:nvSpPr>
        <p:spPr>
          <a:xfrm>
            <a:off x="609480" y="2666880"/>
            <a:ext cx="1158192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DD6FE"/>
                </a:solidFill>
                <a:latin typeface="Plus Jakarta Sans"/>
                <a:ea typeface="Plus Jakarta Sans"/>
              </a:rPr>
              <a:t>TÓPICO 04</a:t>
            </a:r>
            <a:endParaRPr lang="pt-BR" sz="1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Google Shape;285;p27"/>
          <p:cNvSpPr/>
          <p:nvPr/>
        </p:nvSpPr>
        <p:spPr>
          <a:xfrm>
            <a:off x="609480" y="2981160"/>
            <a:ext cx="11581920" cy="58068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latin typeface="Plus Jakarta Sans"/>
                <a:ea typeface="Plus Jakarta Sans"/>
              </a:rPr>
              <a:t>Interface Segregation Principle</a:t>
            </a:r>
            <a:endParaRPr lang="pt-BR" sz="36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Google Shape;286;p27"/>
          <p:cNvSpPr/>
          <p:nvPr/>
        </p:nvSpPr>
        <p:spPr>
          <a:xfrm>
            <a:off x="609480" y="3714840"/>
            <a:ext cx="6957000" cy="46152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DE9FE"/>
                </a:solidFill>
                <a:latin typeface="Plus Jakarta Sans"/>
                <a:ea typeface="Plus Jakarta Sans"/>
              </a:rPr>
              <a:t>Princípio do S.O.L.I.D: </a:t>
            </a:r>
            <a:endParaRPr lang="pt-BR" sz="1500" b="0" u="none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DE9FE"/>
                </a:solidFill>
                <a:latin typeface="Plus Jakarta Sans"/>
                <a:ea typeface="Plus Jakarta Sans"/>
              </a:rPr>
              <a:t>"Clientes não devem ser forçados a depender de interfaces que não usam".</a:t>
            </a:r>
            <a:endParaRPr lang="pt-BR" sz="15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91;p28"/>
          <p:cNvSpPr/>
          <p:nvPr/>
        </p:nvSpPr>
        <p:spPr>
          <a:xfrm>
            <a:off x="5857920" y="2776680"/>
            <a:ext cx="5724000" cy="2161800"/>
          </a:xfrm>
          <a:prstGeom prst="roundRect">
            <a:avLst>
              <a:gd name="adj" fmla="val 7048"/>
            </a:avLst>
          </a:prstGeom>
          <a:solidFill>
            <a:srgbClr val="F5F3FF"/>
          </a:solidFill>
          <a:ln w="9525">
            <a:solidFill>
              <a:srgbClr val="DDD6FE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9" name="Google Shape;292;p28" descr="imag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415360" y="3166920"/>
            <a:ext cx="609120" cy="60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0" name="Google Shape;293;p28" descr="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480" y="2695680"/>
            <a:ext cx="1900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1" name="Google Shape;294;p28" descr="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480" y="3543480"/>
            <a:ext cx="1900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2" name="Google Shape;295;p28" descr="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480" y="4390920"/>
            <a:ext cx="19008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Google Shape;296;p28"/>
          <p:cNvSpPr/>
          <p:nvPr/>
        </p:nvSpPr>
        <p:spPr>
          <a:xfrm>
            <a:off x="609480" y="457200"/>
            <a:ext cx="115819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563EB"/>
                </a:solidFill>
                <a:latin typeface="Plus Jakarta Sans"/>
                <a:ea typeface="Plus Jakarta Sans"/>
              </a:rPr>
              <a:t>INTERFACE SEGREGATION PRINCIPLE</a:t>
            </a:r>
            <a:endParaRPr lang="pt-BR" sz="10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Google Shape;297;p28"/>
          <p:cNvSpPr/>
          <p:nvPr/>
        </p:nvSpPr>
        <p:spPr>
          <a:xfrm>
            <a:off x="609480" y="704880"/>
            <a:ext cx="1158192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Entendimento do Conceito</a:t>
            </a:r>
            <a:endParaRPr lang="pt-BR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Google Shape;298;p28"/>
          <p:cNvSpPr/>
          <p:nvPr/>
        </p:nvSpPr>
        <p:spPr>
          <a:xfrm>
            <a:off x="5475960" y="4005360"/>
            <a:ext cx="648792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Segregação Eficiente</a:t>
            </a:r>
            <a:endParaRPr lang="pt-BR" sz="16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Google Shape;299;p28"/>
          <p:cNvSpPr/>
          <p:nvPr/>
        </p:nvSpPr>
        <p:spPr>
          <a:xfrm>
            <a:off x="5630400" y="4348080"/>
            <a:ext cx="617904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D28D9"/>
                </a:solidFill>
                <a:latin typeface="Plus Jakarta Sans"/>
                <a:ea typeface="Plus Jakarta Sans"/>
              </a:rPr>
              <a:t>Dividir contratos gordos em pequenos papéis específicos.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Google Shape;300;p28"/>
          <p:cNvSpPr/>
          <p:nvPr/>
        </p:nvSpPr>
        <p:spPr>
          <a:xfrm>
            <a:off x="952560" y="2681280"/>
            <a:ext cx="4695480" cy="657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Interfaces Coesas e Magras:</a:t>
            </a:r>
            <a:endParaRPr lang="pt-BR" sz="13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Google Shape;301;p28"/>
          <p:cNvSpPr/>
          <p:nvPr/>
        </p:nvSpPr>
        <p:spPr>
          <a:xfrm>
            <a:off x="952560" y="3529080"/>
            <a:ext cx="4695480" cy="657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475569"/>
                </a:solidFill>
                <a:latin typeface="Plus Jakarta Sans"/>
                <a:ea typeface="Plus Jakarta Sans"/>
              </a:rPr>
              <a:t>Eliminação de Métodos Inúteis:</a:t>
            </a:r>
            <a:endParaRPr lang="pt-BR" sz="13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Google Shape;302;p28"/>
          <p:cNvSpPr/>
          <p:nvPr/>
        </p:nvSpPr>
        <p:spPr>
          <a:xfrm>
            <a:off x="952560" y="4376880"/>
            <a:ext cx="4695480" cy="657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Menor Impacto de Mudanças:</a:t>
            </a:r>
            <a:endParaRPr lang="pt-BR" sz="13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Google Shape;303;p28"/>
          <p:cNvSpPr/>
          <p:nvPr/>
        </p:nvSpPr>
        <p:spPr>
          <a:xfrm>
            <a:off x="952560" y="2938320"/>
            <a:ext cx="46954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5569"/>
                </a:solidFill>
                <a:latin typeface="Plus Jakarta Sans"/>
                <a:ea typeface="Plus Jakarta Sans"/>
              </a:rPr>
              <a:t>Prefira múltiplas interfaces específicas a uma interface genérica e obesa.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Google Shape;304;p28"/>
          <p:cNvSpPr/>
          <p:nvPr/>
        </p:nvSpPr>
        <p:spPr>
          <a:xfrm>
            <a:off x="952560" y="3786120"/>
            <a:ext cx="46954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5569"/>
                </a:solidFill>
                <a:latin typeface="Plus Jakarta Sans"/>
                <a:ea typeface="Plus Jakarta Sans"/>
              </a:rPr>
              <a:t>Evita classes com métodos vazios ou lançando exceções de não implementado.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Google Shape;305;p28"/>
          <p:cNvSpPr/>
          <p:nvPr/>
        </p:nvSpPr>
        <p:spPr>
          <a:xfrm>
            <a:off x="952560" y="4633920"/>
            <a:ext cx="46954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5569"/>
                </a:solidFill>
                <a:latin typeface="Plus Jakarta Sans"/>
                <a:ea typeface="Plus Jakarta Sans"/>
              </a:rPr>
              <a:t>Alterações em um contrato afetam exclusivamente os módulos interessados.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310;p29"/>
          <p:cNvSpPr/>
          <p:nvPr/>
        </p:nvSpPr>
        <p:spPr>
          <a:xfrm>
            <a:off x="609480" y="1751040"/>
            <a:ext cx="10972440" cy="4728960"/>
          </a:xfrm>
          <a:prstGeom prst="roundRect">
            <a:avLst>
              <a:gd name="adj" fmla="val 4768"/>
            </a:avLst>
          </a:prstGeom>
          <a:solidFill>
            <a:srgbClr val="0F172A"/>
          </a:solidFill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Google Shape;311;p29"/>
          <p:cNvSpPr/>
          <p:nvPr/>
        </p:nvSpPr>
        <p:spPr>
          <a:xfrm>
            <a:off x="609480" y="457200"/>
            <a:ext cx="115819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563EB"/>
                </a:solidFill>
                <a:latin typeface="Plus Jakarta Sans"/>
                <a:ea typeface="Plus Jakarta Sans"/>
              </a:rPr>
              <a:t>INTERFACE SEGREGATION PRINCIPLE</a:t>
            </a:r>
            <a:endParaRPr lang="pt-BR" sz="10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Google Shape;312;p29"/>
          <p:cNvSpPr/>
          <p:nvPr/>
        </p:nvSpPr>
        <p:spPr>
          <a:xfrm>
            <a:off x="609480" y="704880"/>
            <a:ext cx="1158192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Aplicação no Código (Segregação de Interfaces)</a:t>
            </a:r>
            <a:endParaRPr lang="pt-BR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Google Shape;313;p29"/>
          <p:cNvSpPr/>
          <p:nvPr/>
        </p:nvSpPr>
        <p:spPr>
          <a:xfrm>
            <a:off x="1028880" y="2109600"/>
            <a:ext cx="10134360" cy="384048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4748B"/>
                </a:solidFill>
                <a:latin typeface="JetBrains Mono"/>
                <a:ea typeface="JetBrains Mono"/>
              </a:rPr>
              <a:t>// Interfaces Específicas e Separadas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interface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ISalario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{ </a:t>
            </a:r>
            <a:r>
              <a:rPr lang="en-US" sz="1200" b="0" u="none" strike="noStrike">
                <a:solidFill>
                  <a:srgbClr val="38BDF8"/>
                </a:solidFill>
                <a:latin typeface="JetBrains Mono"/>
                <a:ea typeface="JetBrains Mono"/>
              </a:rPr>
              <a:t>getSalario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(val: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number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):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void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; }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interface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IBeneficios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{ </a:t>
            </a:r>
            <a:r>
              <a:rPr lang="en-US" sz="1200" b="0" u="none" strike="noStrike">
                <a:solidFill>
                  <a:srgbClr val="38BDF8"/>
                </a:solidFill>
                <a:latin typeface="JetBrains Mono"/>
                <a:ea typeface="JetBrains Mono"/>
              </a:rPr>
              <a:t>getBeneficios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(val: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number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):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void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; }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4748B"/>
                </a:solidFill>
                <a:latin typeface="JetBrains Mono"/>
                <a:ea typeface="JetBrains Mono"/>
              </a:rPr>
              <a:t>// Empregado contratado recebe tanto salário quanto benefícios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class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EmpregadoCLT implements ISalario, IBeneficio 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{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private</a:t>
            </a:r>
            <a:r>
              <a:rPr lang="en-US" sz="1200" b="0" u="none" strike="noStrike">
                <a:solidFill>
                  <a:srgbClr val="FF000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salario: </a:t>
            </a:r>
            <a:r>
              <a:rPr lang="en-US" sz="1200" b="0" u="none" strike="noStrike">
                <a:solidFill>
                  <a:srgbClr val="FBBF24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number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;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interface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ISalario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{ </a:t>
            </a:r>
            <a:r>
              <a:rPr lang="en-US" sz="1200" b="0" u="none" strike="noStrike">
                <a:solidFill>
                  <a:srgbClr val="38BDF8"/>
                </a:solidFill>
                <a:latin typeface="JetBrains Mono"/>
                <a:ea typeface="JetBrains Mono"/>
              </a:rPr>
              <a:t>getSalario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(val: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number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):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void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; }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interface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IBeneficios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{ </a:t>
            </a:r>
            <a:r>
              <a:rPr lang="en-US" sz="1200" b="0" u="none" strike="noStrike">
                <a:solidFill>
                  <a:srgbClr val="38BDF8"/>
                </a:solidFill>
                <a:latin typeface="JetBrains Mono"/>
                <a:ea typeface="JetBrains Mono"/>
              </a:rPr>
              <a:t>getBeneficios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(val: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number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):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void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; }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}</a:t>
            </a:r>
            <a:r>
              <a:rPr lang="en-US" sz="1100" b="0" u="none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lang="pt-BR" sz="11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class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ContratadoPJ implements ISalario 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{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 lvl="5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     private 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salario: </a:t>
            </a:r>
            <a:r>
              <a:rPr lang="en-US" sz="1200" b="0" u="none" strike="noStrike">
                <a:solidFill>
                  <a:srgbClr val="FBBF24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number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;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43F5E"/>
                </a:solidFill>
                <a:latin typeface="JetBrains Mono"/>
                <a:ea typeface="JetBrains Mono"/>
              </a:rPr>
              <a:t>interface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ISalario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{ </a:t>
            </a:r>
            <a:r>
              <a:rPr lang="en-US" sz="1200" b="0" u="none" strike="noStrike">
                <a:solidFill>
                  <a:srgbClr val="38BDF8"/>
                </a:solidFill>
                <a:latin typeface="JetBrains Mono"/>
                <a:ea typeface="JetBrains Mono"/>
              </a:rPr>
              <a:t>getSalario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(val: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number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): </a:t>
            </a:r>
            <a:r>
              <a:rPr lang="en-US" sz="1200" b="0" u="none" strike="noStrike">
                <a:solidFill>
                  <a:srgbClr val="FBBF24"/>
                </a:solidFill>
                <a:latin typeface="JetBrains Mono"/>
                <a:ea typeface="JetBrains Mono"/>
              </a:rPr>
              <a:t>void</a:t>
            </a: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; }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highlight>
                  <a:srgbClr val="0F172A"/>
                </a:highlight>
                <a:latin typeface="JetBrains Mono"/>
                <a:ea typeface="JetBrains Mono"/>
              </a:rPr>
              <a:t>}</a:t>
            </a:r>
            <a:r>
              <a:rPr lang="en-US" sz="1100" b="0" u="none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lang="pt-BR" sz="11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318;p30"/>
          <p:cNvSpPr/>
          <p:nvPr/>
        </p:nvSpPr>
        <p:spPr>
          <a:xfrm>
            <a:off x="609480" y="2946240"/>
            <a:ext cx="3504960" cy="1898640"/>
          </a:xfrm>
          <a:prstGeom prst="roundRect">
            <a:avLst>
              <a:gd name="adj" fmla="val 6018"/>
            </a:avLst>
          </a:prstGeom>
          <a:solidFill>
            <a:srgbClr val="F5F3FF"/>
          </a:solidFill>
          <a:ln w="9525">
            <a:solidFill>
              <a:srgbClr val="DDD6FE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Google Shape;319;p30"/>
          <p:cNvSpPr/>
          <p:nvPr/>
        </p:nvSpPr>
        <p:spPr>
          <a:xfrm>
            <a:off x="4343400" y="2946240"/>
            <a:ext cx="3504960" cy="1898640"/>
          </a:xfrm>
          <a:prstGeom prst="roundRect">
            <a:avLst>
              <a:gd name="adj" fmla="val 6985"/>
            </a:avLst>
          </a:prstGeom>
          <a:solidFill>
            <a:srgbClr val="F0FDF4"/>
          </a:solidFill>
          <a:ln w="9525">
            <a:solidFill>
              <a:srgbClr val="BBF7D0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Google Shape;320;p30"/>
          <p:cNvSpPr/>
          <p:nvPr/>
        </p:nvSpPr>
        <p:spPr>
          <a:xfrm>
            <a:off x="8077320" y="2946240"/>
            <a:ext cx="3504960" cy="1898640"/>
          </a:xfrm>
          <a:prstGeom prst="roundRect">
            <a:avLst>
              <a:gd name="adj" fmla="val 6985"/>
            </a:avLst>
          </a:prstGeom>
          <a:solidFill>
            <a:srgbClr val="FFF1F2"/>
          </a:solidFill>
          <a:ln w="9525">
            <a:solidFill>
              <a:srgbClr val="FECDD3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Google Shape;321;p30"/>
          <p:cNvSpPr/>
          <p:nvPr/>
        </p:nvSpPr>
        <p:spPr>
          <a:xfrm>
            <a:off x="2228760" y="3593880"/>
            <a:ext cx="1028520" cy="218880"/>
          </a:xfrm>
          <a:prstGeom prst="roundRect">
            <a:avLst>
              <a:gd name="adj" fmla="val 17391"/>
            </a:avLst>
          </a:prstGeom>
          <a:solidFill>
            <a:srgbClr val="EDE9FE"/>
          </a:solidFill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Google Shape;322;p30"/>
          <p:cNvSpPr/>
          <p:nvPr/>
        </p:nvSpPr>
        <p:spPr>
          <a:xfrm>
            <a:off x="2390760" y="3847320"/>
            <a:ext cx="1211400" cy="218880"/>
          </a:xfrm>
          <a:prstGeom prst="roundRect">
            <a:avLst>
              <a:gd name="adj" fmla="val 17391"/>
            </a:avLst>
          </a:prstGeom>
          <a:solidFill>
            <a:srgbClr val="EDE9FE"/>
          </a:solidFill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endParaRPr lang="pt-BR" sz="1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2" name="Google Shape;323;p30" descr="imag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85960" y="3260520"/>
            <a:ext cx="14256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3" name="Google Shape;324;p30" descr="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619520" y="3239280"/>
            <a:ext cx="19008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4" name="Google Shape;325;p30" descr="image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353440" y="3242520"/>
            <a:ext cx="2376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Google Shape;326;p30"/>
          <p:cNvSpPr/>
          <p:nvPr/>
        </p:nvSpPr>
        <p:spPr>
          <a:xfrm>
            <a:off x="609480" y="457200"/>
            <a:ext cx="115819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563EB"/>
                </a:solidFill>
                <a:latin typeface="Plus Jakarta Sans"/>
                <a:ea typeface="Plus Jakarta Sans"/>
              </a:rPr>
              <a:t>INTERFACE SEGREGATION PRINCIPLE</a:t>
            </a:r>
            <a:endParaRPr lang="pt-BR" sz="10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Google Shape;327;p30"/>
          <p:cNvSpPr/>
          <p:nvPr/>
        </p:nvSpPr>
        <p:spPr>
          <a:xfrm>
            <a:off x="609480" y="704880"/>
            <a:ext cx="1158192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Explicação &amp; Trade-offs</a:t>
            </a:r>
            <a:endParaRPr lang="pt-BR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Google Shape;328;p30"/>
          <p:cNvSpPr/>
          <p:nvPr/>
        </p:nvSpPr>
        <p:spPr>
          <a:xfrm>
            <a:off x="885960" y="3218760"/>
            <a:ext cx="2952720" cy="23076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21924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6D28D9"/>
                </a:solidFill>
                <a:latin typeface="Plus Jakarta Sans"/>
                <a:ea typeface="Plus Jakarta Sans"/>
              </a:rPr>
              <a:t>Explicação Prática</a:t>
            </a:r>
            <a:endParaRPr lang="pt-BR" sz="15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Google Shape;329;p30"/>
          <p:cNvSpPr/>
          <p:nvPr/>
        </p:nvSpPr>
        <p:spPr>
          <a:xfrm>
            <a:off x="885960" y="3574800"/>
            <a:ext cx="3047760" cy="1071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21B6"/>
                </a:solidFill>
                <a:highlight>
                  <a:srgbClr val="F5F3FF"/>
                </a:highlight>
                <a:latin typeface="Plus Jakarta Sans"/>
                <a:ea typeface="Plus Jakarta Sans"/>
              </a:rPr>
              <a:t>O caixa eletrônico </a:t>
            </a:r>
            <a:r>
              <a:rPr lang="en-US" sz="1200" b="0" u="none" strike="noStrike">
                <a:solidFill>
                  <a:srgbClr val="5B21B6"/>
                </a:solidFill>
                <a:highlight>
                  <a:srgbClr val="EDE9FE"/>
                </a:highlight>
                <a:latin typeface="Roboto Mono"/>
                <a:ea typeface="Roboto Mono"/>
              </a:rPr>
              <a:t>ATMService</a:t>
            </a:r>
            <a:r>
              <a:rPr lang="en-US" sz="1200" b="0" u="none" strike="noStrike">
                <a:solidFill>
                  <a:srgbClr val="5B21B6"/>
                </a:solidFill>
                <a:highlight>
                  <a:srgbClr val="F5F3FF"/>
                </a:highlight>
                <a:latin typeface="Plus Jakarta Sans"/>
                <a:ea typeface="Plus Jakarta Sans"/>
              </a:rPr>
              <a:t> depende apenas de </a:t>
            </a:r>
            <a:r>
              <a:rPr lang="en-US" sz="1200" b="0" u="none" strike="noStrike">
                <a:solidFill>
                  <a:srgbClr val="5B21B6"/>
                </a:solidFill>
                <a:highlight>
                  <a:srgbClr val="EDE9FE"/>
                </a:highlight>
                <a:latin typeface="Roboto Mono"/>
                <a:ea typeface="Roboto Mono"/>
              </a:rPr>
              <a:t>Withdrawable</a:t>
            </a:r>
            <a:r>
              <a:rPr lang="en-US" sz="1200" b="0" u="none" strike="noStrike">
                <a:solidFill>
                  <a:srgbClr val="5B21B6"/>
                </a:solidFill>
                <a:highlight>
                  <a:srgbClr val="F5F3FF"/>
                </a:highlight>
                <a:latin typeface="Plus Jakarta Sans"/>
                <a:ea typeface="Plus Jakarta Sans"/>
              </a:rPr>
              <a:t>, ficando isolado das operações de depósito ou investimento.</a:t>
            </a:r>
            <a:r>
              <a:rPr lang="en-US" sz="1100" b="0" u="none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lang="pt-BR" sz="1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Google Shape;330;p30"/>
          <p:cNvSpPr/>
          <p:nvPr/>
        </p:nvSpPr>
        <p:spPr>
          <a:xfrm>
            <a:off x="4619520" y="3218760"/>
            <a:ext cx="2310840" cy="23076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26676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5803D"/>
                </a:solidFill>
                <a:latin typeface="Plus Jakarta Sans"/>
                <a:ea typeface="Plus Jakarta Sans"/>
              </a:rPr>
              <a:t>Vantagens</a:t>
            </a:r>
            <a:endParaRPr lang="pt-BR" sz="15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Google Shape;331;p30"/>
          <p:cNvSpPr/>
          <p:nvPr/>
        </p:nvSpPr>
        <p:spPr>
          <a:xfrm>
            <a:off x="4572000" y="3568680"/>
            <a:ext cx="3047760" cy="77544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4532D"/>
                </a:solidFill>
                <a:latin typeface="Plus Jakarta Sans"/>
                <a:ea typeface="Plus Jakarta Sans"/>
              </a:rPr>
              <a:t>Código limpo, reutilização simplificada e facilidade para criar mocks em testes unitários.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Google Shape;332;p30"/>
          <p:cNvSpPr/>
          <p:nvPr/>
        </p:nvSpPr>
        <p:spPr>
          <a:xfrm>
            <a:off x="8353440" y="3240360"/>
            <a:ext cx="2952720" cy="23076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31428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E123C"/>
                </a:solidFill>
                <a:latin typeface="Plus Jakarta Sans"/>
                <a:ea typeface="Plus Jakarta Sans"/>
              </a:rPr>
              <a:t>Trade-offs</a:t>
            </a:r>
            <a:endParaRPr lang="pt-BR" sz="15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Google Shape;333;p30"/>
          <p:cNvSpPr/>
          <p:nvPr/>
        </p:nvSpPr>
        <p:spPr>
          <a:xfrm>
            <a:off x="8305920" y="3568680"/>
            <a:ext cx="3047760" cy="77544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81337"/>
                </a:solidFill>
                <a:latin typeface="Plus Jakarta Sans"/>
                <a:ea typeface="Plus Jakarta Sans"/>
              </a:rPr>
              <a:t>Criação de um número maior de interfaces pequenas no projeto, exigindo organização criteriosa.</a:t>
            </a:r>
            <a:endParaRPr lang="pt-BR" sz="12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09600" y="1314450"/>
            <a:ext cx="3530649" cy="5086350"/>
          </a:xfrm>
          <a:prstGeom prst="roundRect">
            <a:avLst>
              <a:gd name="adj" fmla="val 43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749" y="1314450"/>
            <a:ext cx="3530649" cy="5086350"/>
          </a:xfrm>
          <a:prstGeom prst="roundRect">
            <a:avLst>
              <a:gd name="adj" fmla="val 43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899" y="1314450"/>
            <a:ext cx="3530649" cy="5086350"/>
          </a:xfrm>
          <a:prstGeom prst="roundRect">
            <a:avLst>
              <a:gd name="adj" fmla="val 43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47725" y="5374183"/>
            <a:ext cx="3054399" cy="788491"/>
          </a:xfrm>
          <a:prstGeom prst="rect">
            <a:avLst/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68874" y="5374183"/>
            <a:ext cx="3054399" cy="788491"/>
          </a:xfrm>
          <a:prstGeom prst="rect">
            <a:avLst/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90024" y="5374183"/>
            <a:ext cx="3054399" cy="788491"/>
          </a:xfrm>
          <a:prstGeom prst="rect">
            <a:avLst/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7725" y="5374183"/>
            <a:ext cx="38100" cy="788491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68874" y="5374183"/>
            <a:ext cx="38100" cy="788491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90024" y="5374183"/>
            <a:ext cx="38100" cy="788491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566862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874" y="1566862"/>
            <a:ext cx="19050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0024" y="1566862"/>
            <a:ext cx="190500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7725" y="1885950"/>
            <a:ext cx="31496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"Existe um número limite ideal de métodos para uma interface não violar o ISP?"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125" y="5488483"/>
            <a:ext cx="2882949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BE123C"/>
                </a:solidFill>
                <a:latin typeface="Plus Jakarta Sans"/>
              </a:rPr>
              <a:t>Resposta:</a:t>
            </a:r>
            <a:r>
              <a:rPr sz="1050" b="0" i="0" u="none">
                <a:solidFill>
                  <a:srgbClr val="BE123C"/>
                </a:solidFill>
                <a:latin typeface="Plus Jakarta Sans"/>
              </a:rPr>
              <a:t> Não há número fixo. Depende da coesão do papel. Idealmente de 1 a 3 métodos focados.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8874" y="1885950"/>
            <a:ext cx="31496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"Segregar demais não gera poluição de arquivos e interfaces minúsculas?"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1274" y="5488483"/>
            <a:ext cx="2882949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BE123C"/>
                </a:solidFill>
                <a:latin typeface="Plus Jakarta Sans"/>
              </a:rPr>
              <a:t>Resposta:</a:t>
            </a:r>
            <a:r>
              <a:rPr sz="1050" b="0" i="0" u="none">
                <a:solidFill>
                  <a:srgbClr val="BE123C"/>
                </a:solidFill>
                <a:latin typeface="Plus Jakarta Sans"/>
              </a:rPr>
              <a:t> O custo de gerenciar arquivos é menor que o custo de acoplamento e métodos vazios.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0024" y="1885950"/>
            <a:ext cx="31496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"Faz sentido falar de ISP em Python ou JS que não têm interfaces explícitas?"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2424" y="5488483"/>
            <a:ext cx="2882949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BE123C"/>
                </a:solidFill>
                <a:latin typeface="Plus Jakarta Sans"/>
              </a:rPr>
              <a:t>Resposta:</a:t>
            </a:r>
            <a:r>
              <a:rPr sz="1050" b="0" i="0" u="none">
                <a:solidFill>
                  <a:srgbClr val="BE123C"/>
                </a:solidFill>
                <a:latin typeface="Plus Jakarta Sans"/>
              </a:rPr>
              <a:t> Sim via Duck Typing, Protocol (Python) ou Interfaces no TypeScript para contratos de cliente.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475" y="1552575"/>
            <a:ext cx="211276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Quantos Métodos?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54624" y="1552575"/>
            <a:ext cx="187523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Muitas Interfaces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5774" y="1552575"/>
            <a:ext cx="24503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Linguagens Dinâmicas</a:t>
            </a:r>
          </a:p>
        </p:txBody>
      </p:sp>
      <p:sp>
        <p:nvSpPr>
          <p:cNvPr id="28" name="Google Shape;326;p30">
            <a:extLst>
              <a:ext uri="{FF2B5EF4-FFF2-40B4-BE49-F238E27FC236}">
                <a16:creationId xmlns:a16="http://schemas.microsoft.com/office/drawing/2014/main" id="{162E8E07-9038-2682-FCEF-BAC8DD15F953}"/>
              </a:ext>
            </a:extLst>
          </p:cNvPr>
          <p:cNvSpPr/>
          <p:nvPr/>
        </p:nvSpPr>
        <p:spPr>
          <a:xfrm>
            <a:off x="609480" y="457200"/>
            <a:ext cx="115819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563EB"/>
                </a:solidFill>
                <a:latin typeface="Plus Jakarta Sans"/>
                <a:ea typeface="Plus Jakarta Sans"/>
              </a:rPr>
              <a:t>INTERFACE SEGREGATION PRINCIPLE</a:t>
            </a:r>
            <a:endParaRPr lang="pt-BR" sz="10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Google Shape;327;p30">
            <a:extLst>
              <a:ext uri="{FF2B5EF4-FFF2-40B4-BE49-F238E27FC236}">
                <a16:creationId xmlns:a16="http://schemas.microsoft.com/office/drawing/2014/main" id="{F26BF6ED-497E-412A-8D2F-9B902AED3445}"/>
              </a:ext>
            </a:extLst>
          </p:cNvPr>
          <p:cNvSpPr/>
          <p:nvPr/>
        </p:nvSpPr>
        <p:spPr>
          <a:xfrm>
            <a:off x="609480" y="704880"/>
            <a:ext cx="1158192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2400" b="1" dirty="0">
                <a:solidFill>
                  <a:srgbClr val="0F172A"/>
                </a:solidFill>
                <a:latin typeface="Plus Jakarta Sans"/>
              </a:rPr>
              <a:t>Interface Segregation Principle: </a:t>
            </a:r>
            <a:r>
              <a:rPr lang="en-US" sz="2400" b="1" dirty="0" err="1">
                <a:solidFill>
                  <a:srgbClr val="0F172A"/>
                </a:solidFill>
                <a:latin typeface="Plus Jakarta Sans"/>
              </a:rPr>
              <a:t>Perguntas</a:t>
            </a:r>
            <a:r>
              <a:rPr lang="en-US" sz="2400" b="1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lang="en-US" sz="2400" b="1" dirty="0" err="1">
                <a:solidFill>
                  <a:srgbClr val="0F172A"/>
                </a:solidFill>
                <a:latin typeface="Plus Jakarta Sans"/>
              </a:rPr>
              <a:t>Frequentes</a:t>
            </a:r>
            <a:endParaRPr lang="en-US" sz="2400" dirty="0" err="1">
              <a:solidFill>
                <a:srgbClr val="000000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1314296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3" name="Google Shape;338;p31"/>
          <p:cNvGraphicFramePr>
            <a:graphicFrameLocks noGrp="1"/>
          </p:cNvGraphicFramePr>
          <p:nvPr/>
        </p:nvGraphicFramePr>
        <p:xfrm>
          <a:off x="609480" y="2571840"/>
          <a:ext cx="10972080" cy="2570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9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8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</a:rPr>
                        <a:t>Tema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</a:rPr>
                        <a:t>Objetivo Principal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</a:rPr>
                        <a:t>Principal Benefício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</a:rPr>
                        <a:t>Custo / Atenção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2563EB"/>
                          </a:solidFill>
                          <a:latin typeface="Plus Jakarta Sans"/>
                          <a:ea typeface="Plus Jakarta Sans"/>
                        </a:rPr>
                        <a:t>Encapsulamento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</a:rPr>
                        <a:t>Proteger estado interno</a:t>
                      </a:r>
                      <a:endParaRPr lang="pt-BR" sz="113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</a:rPr>
                        <a:t>Integridade dos dados de domínio</a:t>
                      </a:r>
                      <a:endParaRPr lang="pt-BR" sz="113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</a:rPr>
                        <a:t>Verbosidade de métodos de acesso</a:t>
                      </a:r>
                      <a:endParaRPr lang="pt-BR" sz="113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</a:rPr>
                        <a:t>Chain of Resp.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</a:rPr>
                        <a:t>Encadear handlers de requisição</a:t>
                      </a:r>
                      <a:endParaRPr lang="pt-BR" sz="113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</a:rPr>
                        <a:t>Desacoplamento e fluxo dinâmico</a:t>
                      </a:r>
                      <a:endParaRPr lang="pt-BR" sz="113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</a:rPr>
                        <a:t>Risco de requisições sem tratamento</a:t>
                      </a:r>
                      <a:endParaRPr lang="pt-BR" sz="113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0D9488"/>
                          </a:solidFill>
                          <a:latin typeface="Plus Jakarta Sans"/>
                          <a:ea typeface="Plus Jakarta Sans"/>
                        </a:rPr>
                        <a:t>Command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</a:rPr>
                        <a:t>Encapsular ações como objetos</a:t>
                      </a:r>
                      <a:endParaRPr lang="pt-BR" sz="113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</a:rPr>
                        <a:t>Suporte nativo a Undo/Redo e filas</a:t>
                      </a:r>
                      <a:endParaRPr lang="pt-BR" sz="113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</a:rPr>
                        <a:t>Alta quantidade de novas classes</a:t>
                      </a:r>
                      <a:endParaRPr lang="pt-BR" sz="113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7C3AED"/>
                          </a:solidFill>
                          <a:latin typeface="Plus Jakarta Sans"/>
                          <a:ea typeface="Plus Jakarta Sans"/>
                        </a:rPr>
                        <a:t>ISP (SOLID)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</a:rPr>
                        <a:t>Segregar interfaces por papel</a:t>
                      </a:r>
                      <a:endParaRPr lang="pt-BR" sz="113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</a:rPr>
                        <a:t>Contratos magros e acoplamento baixo</a:t>
                      </a:r>
                      <a:endParaRPr lang="pt-BR" sz="113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</a:rPr>
                        <a:t>Gerenciamento de muitas interfaces</a:t>
                      </a:r>
                      <a:endParaRPr lang="pt-BR" sz="113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marT="25200" marB="25200" anchor="ctr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4" name="Google Shape;339;p31"/>
          <p:cNvSpPr/>
          <p:nvPr/>
        </p:nvSpPr>
        <p:spPr>
          <a:xfrm>
            <a:off x="609480" y="457200"/>
            <a:ext cx="115819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563EB"/>
                </a:solidFill>
                <a:latin typeface="Plus Jakarta Sans"/>
                <a:ea typeface="Plus Jakarta Sans"/>
              </a:rPr>
              <a:t>SÍNTESE COMPARATIVA</a:t>
            </a:r>
            <a:endParaRPr lang="pt-BR" sz="10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Google Shape;340;p31"/>
          <p:cNvSpPr/>
          <p:nvPr/>
        </p:nvSpPr>
        <p:spPr>
          <a:xfrm>
            <a:off x="609480" y="704880"/>
            <a:ext cx="1158192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F172A"/>
                </a:solidFill>
                <a:latin typeface="Plus Jakarta Sans"/>
                <a:ea typeface="Plus Jakarta Sans"/>
              </a:rPr>
              <a:t>Resumo dos Conceitos Analisados</a:t>
            </a:r>
            <a:endParaRPr lang="pt-BR" sz="2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345;p32" descr="imag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862600" y="2395440"/>
            <a:ext cx="466200" cy="5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Google Shape;346;p32"/>
          <p:cNvSpPr/>
          <p:nvPr/>
        </p:nvSpPr>
        <p:spPr>
          <a:xfrm>
            <a:off x="4558320" y="3157560"/>
            <a:ext cx="3075120" cy="58068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8FAFC"/>
                </a:solidFill>
                <a:latin typeface="Plus Jakarta Sans"/>
                <a:ea typeface="Plus Jakarta Sans"/>
              </a:rPr>
              <a:t>Obrigado!</a:t>
            </a:r>
            <a:endParaRPr lang="pt-BR" sz="36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Google Shape;347;p32"/>
          <p:cNvSpPr/>
          <p:nvPr/>
        </p:nvSpPr>
        <p:spPr>
          <a:xfrm>
            <a:off x="2523960" y="3890880"/>
            <a:ext cx="71434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latin typeface="Plus Jakarta Sans"/>
                <a:ea typeface="Plus Jakarta Sans"/>
              </a:rPr>
              <a:t>Perguntas ou discussões sobre a aplicação desses padrões no seu projeto?</a:t>
            </a:r>
            <a:endParaRPr lang="pt-BR" sz="15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>
          <a:solidFill>
            <a:schemeClr val="phClr"/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25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6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32</cp:revision>
  <dcterms:modified xsi:type="dcterms:W3CDTF">2026-10-27T19:07:35Z</dcterms:modified>
</cp:coreProperties>
</file>