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embeddedFontLst>
    <p:embeddedFont>
      <p:font typeface="JetBrains Mono" panose="020B0604020202020204" charset="0"/>
      <p:regular r:id="rId31"/>
      <p:bold r:id="rId32"/>
      <p:italic r:id="rId33"/>
      <p:boldItalic r:id="rId34"/>
    </p:embeddedFont>
    <p:embeddedFont>
      <p:font typeface="Plus Jakarta Sans" panose="020B0604020202020204" charset="0"/>
      <p:regular r:id="rId35"/>
      <p:bold r:id="rId36"/>
      <p:italic r:id="rId37"/>
      <p:boldItalic r:id="rId35"/>
    </p:embeddedFont>
    <p:embeddedFont>
      <p:font typeface="Roboto Mono" panose="00000009000000000000" pitchFamily="49" charset="0"/>
      <p:regular r:id="rId38"/>
      <p:bold r:id="rId39"/>
      <p:italic r:id="rId40"/>
      <p:boldItalic r:id="rId41"/>
    </p:embeddedFont>
  </p:embeddedFontLst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theme" Target="theme/theme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Relationship Id="rId36" Type="http://schemas.openxmlformats.org/officeDocument/2006/relationships/font" Target="fonts/font6.fntdata"/><Relationship Id="rId37" Type="http://schemas.openxmlformats.org/officeDocument/2006/relationships/font" Target="fonts/font7.fntdata"/><Relationship Id="rId38" Type="http://schemas.openxmlformats.org/officeDocument/2006/relationships/font" Target="fonts/font8.fntdata"/><Relationship Id="rId39" Type="http://schemas.openxmlformats.org/officeDocument/2006/relationships/font" Target="fonts/font9.fntdata"/><Relationship Id="rId40" Type="http://schemas.openxmlformats.org/officeDocument/2006/relationships/font" Target="fonts/font10.fntdata"/><Relationship Id="rId41" Type="http://schemas.openxmlformats.org/officeDocument/2006/relationships/font" Target="fonts/font11.fntdata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DDC6D5D-A00E-4AA9-84F2-364CBECE0EEA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ERTICAL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DCD0F9E-EF7E-4C26-8662-25A73F2263DD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7C18080-B33E-4073-8615-72D8F5AE8F78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5CB9569-04AF-4288-8880-64CE52ABE7A3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F533E07-937E-4FED-8300-891295843456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>
              <a:buNone/>
              <a:defRPr lang="pt-BR" sz="40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0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0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0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28B55B-FA15-48BA-860D-0231187503D9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8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8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40644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808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556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8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8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8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40644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808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556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35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36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E0EBC0-ADA9-4FA7-889C-9287646BC794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38088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556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3012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38088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35568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3012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3012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43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DA25AB8-FB3A-479C-8780-0B7E5F586C0F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>
              <a:buNone/>
              <a:defRPr lang="pt-BR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44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AEFC29A-6C4F-4141-86E3-1A3E2D58E3A2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JECT_WITH_CAPTIO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pt-BR" sz="20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32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43164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40644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38088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35568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3556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3556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35568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E19C649-D3E0-46CB-87C1-67136E4226A6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>
              <a:buNone/>
              <a:defRPr lang="pt-BR" sz="20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lstStyle/>
          <a:p>
            <a:pPr indent="0" algn="l">
              <a:buNone/>
            </a:pP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Clique duas vezes para adicionar uma figura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400" b="0" u="none" strike="noStrike">
                <a:solidFill>
                  <a:srgbClr val="000000"/>
                </a:solidFill>
                <a:latin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4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2.º nível de tópicos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3.º nível de tópicos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4.º nível de tópicos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5.º nível de tópicos</a:t>
            </a:r>
          </a:p>
          <a:p>
            <a:pPr marL="27432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6.º nível de tópicos</a:t>
            </a:r>
          </a:p>
          <a:p>
            <a:pPr marL="32004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latin typeface="Arial"/>
              </a:rPr>
              <a:t>7.º nível de tópicos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EBE78A-EB3E-401E-81B5-D7F53201DAF3}" type="slidenum">
              <a:rPr lang="en-US" sz="1200" b="0" u="none" strike="noStrike">
                <a:solidFill>
                  <a:srgbClr val="888888"/>
                </a:solidFill>
                <a:latin typeface="Calibri"/>
                <a:ea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24192-8E8D-414D-8EE0-97276B7B69C6}" type="datetimeFigureOut">
              <a:rPr lang="en-US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07AEC-4DB1-4201-8352-72C66BEDFD24}" type="slidenum">
              <a:rPr lang="en-US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93;p13"/>
          <p:cNvSpPr/>
          <p:nvPr/>
        </p:nvSpPr>
        <p:spPr>
          <a:xfrm>
            <a:off x="8534400" y="6248400"/>
            <a:ext cx="3431160" cy="402336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Aluno: Júnior Medeiros</a:t>
            </a:r>
          </a:p>
        </p:txBody>
      </p:sp>
      <p:sp>
        <p:nvSpPr>
          <p:cNvPr id="330" name="Google Shape;93;p13"/>
          <p:cNvSpPr/>
          <p:nvPr/>
        </p:nvSpPr>
        <p:spPr>
          <a:xfrm>
            <a:off x="4380420" y="3227832"/>
            <a:ext cx="3431160" cy="402336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. . .</a:t>
            </a:r>
          </a:p>
        </p:txBody>
      </p:sp>
      <p:pic>
        <p:nvPicPr>
          <p:cNvPr id="414" name="Picture 3" descr="extend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9600" y="685800"/>
            <a:ext cx="10972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84;p13"/>
          <p:cNvSpPr/>
          <p:nvPr/>
        </p:nvSpPr>
        <p:spPr>
          <a:xfrm>
            <a:off x="609480" y="1846080"/>
            <a:ext cx="2499840" cy="304560"/>
          </a:xfrm>
          <a:prstGeom prst="roundRect">
            <a:avLst>
              <a:gd name="adj" fmla="val 50000"/>
            </a:avLst>
          </a:prstGeom>
          <a:solidFill>
            <a:srgbClr val="122247"/>
          </a:solidFill>
          <a:ln w="9525">
            <a:solidFill>
              <a:srgbClr val="2563E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Google Shape;85;p13"/>
          <p:cNvSpPr/>
          <p:nvPr/>
        </p:nvSpPr>
        <p:spPr>
          <a:xfrm>
            <a:off x="609480" y="4611960"/>
            <a:ext cx="1485720" cy="399600"/>
          </a:xfrm>
          <a:prstGeom prst="roundRect">
            <a:avLst>
              <a:gd name="adj" fmla="val 19047"/>
            </a:avLst>
          </a:prstGeom>
          <a:solidFill>
            <a:srgbClr val="1E293B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Google Shape;86;p13"/>
          <p:cNvSpPr/>
          <p:nvPr/>
        </p:nvSpPr>
        <p:spPr>
          <a:xfrm>
            <a:off x="2247840" y="4611960"/>
            <a:ext cx="1847520" cy="399600"/>
          </a:xfrm>
          <a:prstGeom prst="roundRect">
            <a:avLst>
              <a:gd name="adj" fmla="val 19047"/>
            </a:avLst>
          </a:prstGeom>
          <a:solidFill>
            <a:srgbClr val="1E293B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Google Shape;87;p13"/>
          <p:cNvSpPr/>
          <p:nvPr/>
        </p:nvSpPr>
        <p:spPr>
          <a:xfrm>
            <a:off x="4248000" y="4611960"/>
            <a:ext cx="1599840" cy="399600"/>
          </a:xfrm>
          <a:prstGeom prst="roundRect">
            <a:avLst>
              <a:gd name="adj" fmla="val 19047"/>
            </a:avLst>
          </a:prstGeom>
          <a:solidFill>
            <a:srgbClr val="1E293B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Google Shape;88;p13"/>
          <p:cNvSpPr/>
          <p:nvPr/>
        </p:nvSpPr>
        <p:spPr>
          <a:xfrm>
            <a:off x="6000840" y="4611960"/>
            <a:ext cx="1342800" cy="399600"/>
          </a:xfrm>
          <a:prstGeom prst="roundRect">
            <a:avLst>
              <a:gd name="adj" fmla="val 19047"/>
            </a:avLst>
          </a:prstGeom>
          <a:solidFill>
            <a:srgbClr val="1E293B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Google Shape;89;p13"/>
          <p:cNvSpPr/>
          <p:nvPr/>
        </p:nvSpPr>
        <p:spPr>
          <a:xfrm>
            <a:off x="609480" y="4611960"/>
            <a:ext cx="37800" cy="3996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19080" rIns="19080"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Google Shape;90;p13"/>
          <p:cNvSpPr/>
          <p:nvPr/>
        </p:nvSpPr>
        <p:spPr>
          <a:xfrm>
            <a:off x="2247840" y="4611960"/>
            <a:ext cx="37800" cy="399600"/>
          </a:xfrm>
          <a:prstGeom prst="rect">
            <a:avLst/>
          </a:prstGeom>
          <a:solidFill>
            <a:srgbClr val="0284C7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19080" rIns="19080"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Google Shape;91;p13"/>
          <p:cNvSpPr/>
          <p:nvPr/>
        </p:nvSpPr>
        <p:spPr>
          <a:xfrm>
            <a:off x="4248000" y="4611960"/>
            <a:ext cx="37800" cy="3996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19080" rIns="19080"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Google Shape;92;p13"/>
          <p:cNvSpPr/>
          <p:nvPr/>
        </p:nvSpPr>
        <p:spPr>
          <a:xfrm>
            <a:off x="6000840" y="4611960"/>
            <a:ext cx="37800" cy="3996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19080" rIns="19080"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Google Shape;93;p13"/>
          <p:cNvSpPr/>
          <p:nvPr/>
        </p:nvSpPr>
        <p:spPr>
          <a:xfrm>
            <a:off x="609480" y="2379600"/>
            <a:ext cx="9100800" cy="1089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9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POO, SOLID &amp; Design Patterns na Prática</a:t>
            </a:r>
            <a:endParaRPr lang="pt-BR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Google Shape;94;p13"/>
          <p:cNvSpPr/>
          <p:nvPr/>
        </p:nvSpPr>
        <p:spPr>
          <a:xfrm>
            <a:off x="609480" y="3659400"/>
            <a:ext cx="695304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latin typeface="Plus Jakarta Sans"/>
                <a:ea typeface="Plus Jakarta Sans"/>
              </a:rPr>
              <a:t>Entendimento, aplicação em código, explicação e trade-offs dos princípios essenciais de engenharia.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Google Shape;95;p13"/>
          <p:cNvSpPr/>
          <p:nvPr/>
        </p:nvSpPr>
        <p:spPr>
          <a:xfrm>
            <a:off x="771480" y="1912680"/>
            <a:ext cx="272016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A5FA"/>
                </a:solidFill>
                <a:latin typeface="Plus Jakarta Sans"/>
                <a:ea typeface="Plus Jakarta Sans"/>
              </a:rPr>
              <a:t>BOAS PRÁTICAS DE SOFTWARE</a:t>
            </a:r>
            <a:endParaRPr lang="pt-BR" sz="10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Google Shape;96;p13"/>
          <p:cNvSpPr/>
          <p:nvPr/>
        </p:nvSpPr>
        <p:spPr>
          <a:xfrm>
            <a:off x="838080" y="4726080"/>
            <a:ext cx="135216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2E8F0"/>
                </a:solidFill>
                <a:latin typeface="Plus Jakarta Sans"/>
                <a:ea typeface="Plus Jakarta Sans"/>
              </a:rPr>
              <a:t>Encapsulamento</a:t>
            </a:r>
            <a:endParaRPr lang="pt-BR" sz="10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Google Shape;97;p13"/>
          <p:cNvSpPr/>
          <p:nvPr/>
        </p:nvSpPr>
        <p:spPr>
          <a:xfrm>
            <a:off x="2476440" y="4726080"/>
            <a:ext cx="17856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2E8F0"/>
                </a:solidFill>
                <a:latin typeface="Plus Jakarta Sans"/>
                <a:ea typeface="Plus Jakarta Sans"/>
              </a:rPr>
              <a:t>Chain of Responsibility</a:t>
            </a:r>
            <a:endParaRPr lang="pt-BR" sz="10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Google Shape;98;p13"/>
          <p:cNvSpPr/>
          <p:nvPr/>
        </p:nvSpPr>
        <p:spPr>
          <a:xfrm>
            <a:off x="4476600" y="4726080"/>
            <a:ext cx="14760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2E8F0"/>
                </a:solidFill>
                <a:latin typeface="Plus Jakarta Sans"/>
                <a:ea typeface="Plus Jakarta Sans"/>
              </a:rPr>
              <a:t>Command Pattern</a:t>
            </a:r>
            <a:endParaRPr lang="pt-BR" sz="10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Google Shape;99;p13"/>
          <p:cNvSpPr/>
          <p:nvPr/>
        </p:nvSpPr>
        <p:spPr>
          <a:xfrm>
            <a:off x="6229440" y="4726080"/>
            <a:ext cx="120924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2E8F0"/>
                </a:solidFill>
                <a:latin typeface="Plus Jakarta Sans"/>
                <a:ea typeface="Plus Jakarta Sans"/>
              </a:rPr>
              <a:t>ISP (S.O.L.I.D)</a:t>
            </a:r>
            <a:endParaRPr lang="pt-BR" sz="10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Google Shape;93;p13"/>
          <p:cNvSpPr/>
          <p:nvPr/>
        </p:nvSpPr>
        <p:spPr>
          <a:xfrm>
            <a:off x="8382000" y="6019800"/>
            <a:ext cx="3431160" cy="402336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Aluno: Júnior Medeiros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04;p14"/>
          <p:cNvSpPr/>
          <p:nvPr/>
        </p:nvSpPr>
        <p:spPr>
          <a:xfrm>
            <a:off x="609480" y="2724120"/>
            <a:ext cx="2571480" cy="2199960"/>
          </a:xfrm>
          <a:prstGeom prst="roundRect">
            <a:avLst>
              <a:gd name="adj" fmla="val 69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Google Shape;105;p14"/>
          <p:cNvSpPr/>
          <p:nvPr/>
        </p:nvSpPr>
        <p:spPr>
          <a:xfrm>
            <a:off x="3409920" y="2733840"/>
            <a:ext cx="2571480" cy="219996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Google Shape;106;p14"/>
          <p:cNvSpPr/>
          <p:nvPr/>
        </p:nvSpPr>
        <p:spPr>
          <a:xfrm>
            <a:off x="6210360" y="2724120"/>
            <a:ext cx="2571480" cy="2199960"/>
          </a:xfrm>
          <a:prstGeom prst="roundRect">
            <a:avLst>
              <a:gd name="adj" fmla="val 69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Google Shape;107;p14"/>
          <p:cNvSpPr/>
          <p:nvPr/>
        </p:nvSpPr>
        <p:spPr>
          <a:xfrm>
            <a:off x="9010800" y="2735640"/>
            <a:ext cx="2571480" cy="2199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Google Shape;108;p14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3760" y="29433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Google Shape;109;p14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686040" y="2943360"/>
            <a:ext cx="380520" cy="30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Google Shape;110;p14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524640" y="2943360"/>
            <a:ext cx="342720" cy="30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Google Shape;111;p14" descr="image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325080" y="29433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Google Shape;112;p14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ESTRUTURA DA APRESENTAÇÃO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113;p14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Matriz de Tópicos Avaliados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Google Shape;114;p14"/>
          <p:cNvSpPr/>
          <p:nvPr/>
        </p:nvSpPr>
        <p:spPr>
          <a:xfrm>
            <a:off x="923760" y="3505320"/>
            <a:ext cx="254988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1. Encapsulamento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Google Shape;115;p14"/>
          <p:cNvSpPr/>
          <p:nvPr/>
        </p:nvSpPr>
        <p:spPr>
          <a:xfrm>
            <a:off x="923760" y="3919680"/>
            <a:ext cx="203796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latin typeface="Plus Jakarta Sans"/>
                <a:ea typeface="Plus Jakarta Sans"/>
              </a:rPr>
              <a:t>Proteção de estado interno e invariantes de regras de negócio em POO.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Google Shape;116;p14"/>
          <p:cNvSpPr/>
          <p:nvPr/>
        </p:nvSpPr>
        <p:spPr>
          <a:xfrm>
            <a:off x="3724200" y="3505320"/>
            <a:ext cx="2549880" cy="237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2. Chain of Resp.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Google Shape;117;p14"/>
          <p:cNvSpPr/>
          <p:nvPr/>
        </p:nvSpPr>
        <p:spPr>
          <a:xfrm>
            <a:off x="3724200" y="3919680"/>
            <a:ext cx="203832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latin typeface="Plus Jakarta Sans"/>
                <a:ea typeface="Plus Jakarta Sans"/>
              </a:rPr>
              <a:t>Encadeamento de handlers para processamento sequencial e desacoplado.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Google Shape;118;p14"/>
          <p:cNvSpPr/>
          <p:nvPr/>
        </p:nvSpPr>
        <p:spPr>
          <a:xfrm>
            <a:off x="6524640" y="3505320"/>
            <a:ext cx="254988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3. Command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Google Shape;119;p14"/>
          <p:cNvSpPr/>
          <p:nvPr/>
        </p:nvSpPr>
        <p:spPr>
          <a:xfrm>
            <a:off x="6477120" y="3897360"/>
            <a:ext cx="2038320" cy="7387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latin typeface="Plus Jakarta Sans"/>
                <a:ea typeface="Plus Jakarta Sans"/>
              </a:rPr>
              <a:t>Encapsulamento de requisições como objetos parametrizáveis com undo/redo.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Google Shape;120;p14"/>
          <p:cNvSpPr/>
          <p:nvPr/>
        </p:nvSpPr>
        <p:spPr>
          <a:xfrm>
            <a:off x="9325080" y="3505320"/>
            <a:ext cx="254988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4. ISP (S.O.L.I.D)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21;p14"/>
          <p:cNvSpPr/>
          <p:nvPr/>
        </p:nvSpPr>
        <p:spPr>
          <a:xfrm>
            <a:off x="9277560" y="3896640"/>
            <a:ext cx="203832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latin typeface="Plus Jakarta Sans"/>
                <a:ea typeface="Plus Jakarta Sans"/>
              </a:rPr>
              <a:t>Segregação de interfaces magras para evitar dependências forçadas.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126;p15"/>
          <p:cNvSpPr/>
          <p:nvPr/>
        </p:nvSpPr>
        <p:spPr>
          <a:xfrm>
            <a:off x="609480" y="2666880"/>
            <a:ext cx="115819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TÓPICO 01</a:t>
            </a:r>
            <a:endParaRPr lang="pt-BR" sz="1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127;p15"/>
          <p:cNvSpPr/>
          <p:nvPr/>
        </p:nvSpPr>
        <p:spPr>
          <a:xfrm>
            <a:off x="609480" y="2981160"/>
            <a:ext cx="11581920" cy="580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latin typeface="Plus Jakarta Sans"/>
                <a:ea typeface="Plus Jakarta Sans"/>
              </a:rPr>
              <a:t>Encapsulamento (POO)</a:t>
            </a:r>
            <a:endParaRPr lang="pt-BR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28;p15"/>
          <p:cNvSpPr/>
          <p:nvPr/>
        </p:nvSpPr>
        <p:spPr>
          <a:xfrm>
            <a:off x="609480" y="3714840"/>
            <a:ext cx="6571800" cy="4759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BEAFE"/>
                </a:solidFill>
                <a:latin typeface="Plus Jakarta Sans"/>
                <a:ea typeface="Plus Jakarta Sans"/>
              </a:rPr>
              <a:t>O pilar fundamental da Programação Orientada a Objetos para proteção de dados e integridade de domínio.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133;p16"/>
          <p:cNvSpPr/>
          <p:nvPr/>
        </p:nvSpPr>
        <p:spPr>
          <a:xfrm>
            <a:off x="5857920" y="2776680"/>
            <a:ext cx="5724000" cy="2161800"/>
          </a:xfrm>
          <a:prstGeom prst="roundRect">
            <a:avLst>
              <a:gd name="adj" fmla="val 7048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Google Shape;134;p16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7200" y="3166920"/>
            <a:ext cx="685440" cy="60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Google Shape;135;p1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279576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Google Shape;136;p1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364320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oogle Shape;137;p1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449100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Google Shape;138;p16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ENCAPSULAMENTO (POO)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Google Shape;139;p16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Entendimento do Conceito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140;p16"/>
          <p:cNvSpPr/>
          <p:nvPr/>
        </p:nvSpPr>
        <p:spPr>
          <a:xfrm>
            <a:off x="5475960" y="4005360"/>
            <a:ext cx="6487920" cy="2664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Cofre de Negócio</a:t>
            </a:r>
            <a:endParaRPr lang="pt-BR" sz="1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41;p16"/>
          <p:cNvSpPr/>
          <p:nvPr/>
        </p:nvSpPr>
        <p:spPr>
          <a:xfrm>
            <a:off x="5630400" y="4348080"/>
            <a:ext cx="617904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4748B"/>
                </a:solidFill>
                <a:latin typeface="Plus Jakarta Sans"/>
                <a:ea typeface="Plus Jakarta Sans"/>
              </a:rPr>
              <a:t>Dados privados mantidos sob regras estritas de acesso e alteração.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142;p16"/>
          <p:cNvSpPr/>
          <p:nvPr/>
        </p:nvSpPr>
        <p:spPr>
          <a:xfrm>
            <a:off x="952560" y="278136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Ocultamento de Estado: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143;p16"/>
          <p:cNvSpPr/>
          <p:nvPr/>
        </p:nvSpPr>
        <p:spPr>
          <a:xfrm>
            <a:off x="952560" y="362916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Garantia de Invariantes: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144;p16"/>
          <p:cNvSpPr/>
          <p:nvPr/>
        </p:nvSpPr>
        <p:spPr>
          <a:xfrm>
            <a:off x="952560" y="4476600"/>
            <a:ext cx="4638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Interface Pública Restrita: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Google Shape;145;p16"/>
          <p:cNvSpPr/>
          <p:nvPr/>
        </p:nvSpPr>
        <p:spPr>
          <a:xfrm>
            <a:off x="952560" y="303840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Impede modificações diretas de atributos por código externo desautorizado.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Google Shape;146;p16"/>
          <p:cNvSpPr/>
          <p:nvPr/>
        </p:nvSpPr>
        <p:spPr>
          <a:xfrm>
            <a:off x="952560" y="388620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Assegura que o objeto permaneça sempre em um estado válido e consistente.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147;p16"/>
          <p:cNvSpPr/>
          <p:nvPr/>
        </p:nvSpPr>
        <p:spPr>
          <a:xfrm>
            <a:off x="952560" y="4734000"/>
            <a:ext cx="567900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Expõe apenas métodos de negócios operacionais e validados.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52;p17"/>
          <p:cNvSpPr/>
          <p:nvPr/>
        </p:nvSpPr>
        <p:spPr>
          <a:xfrm>
            <a:off x="609480" y="1719720"/>
            <a:ext cx="10972440" cy="4760280"/>
          </a:xfrm>
          <a:prstGeom prst="roundRect">
            <a:avLst>
              <a:gd name="adj" fmla="val 4655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Google Shape;153;p17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ENCAPSULAMENTO (POO)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154;p17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Aplicação no Código (BankAccount)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Google Shape;155;p17"/>
          <p:cNvSpPr/>
          <p:nvPr/>
        </p:nvSpPr>
        <p:spPr>
          <a:xfrm>
            <a:off x="920880" y="1826640"/>
            <a:ext cx="10350360" cy="434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BankAccount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i="1" u="none" strike="noStrike">
                <a:solidFill>
                  <a:srgbClr val="64748B"/>
                </a:solidFill>
                <a:latin typeface="JetBrains Mono"/>
                <a:ea typeface="JetBrains Mono"/>
              </a:rPr>
              <a:t>// Atributos privados e encapsulados (#)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#saldo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constructor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(saldoInicial: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#saldo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= Math.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max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(0, saldoInicial);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#saldo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sacar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(valor: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boolean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if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(valor &lt;= 0 || valor &gt;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#saldo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false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</a:t>
            </a:r>
            <a:r>
              <a:rPr lang="en-US" sz="1200" b="0" i="1" u="none" strike="noStrike">
                <a:solidFill>
                  <a:srgbClr val="64748B"/>
                </a:solidFill>
                <a:latin typeface="JetBrains Mono"/>
                <a:ea typeface="JetBrains Mono"/>
              </a:rPr>
              <a:t>// Validação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#saldo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-= valor;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true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60;p18"/>
          <p:cNvSpPr/>
          <p:nvPr/>
        </p:nvSpPr>
        <p:spPr>
          <a:xfrm>
            <a:off x="609480" y="2946240"/>
            <a:ext cx="3504960" cy="1898640"/>
          </a:xfrm>
          <a:prstGeom prst="roundRect">
            <a:avLst>
              <a:gd name="adj" fmla="val 6018"/>
            </a:avLst>
          </a:prstGeom>
          <a:solidFill>
            <a:srgbClr val="F0F9FF"/>
          </a:solidFill>
          <a:ln w="9525">
            <a:solidFill>
              <a:srgbClr val="BAE6FD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Google Shape;161;p18"/>
          <p:cNvSpPr/>
          <p:nvPr/>
        </p:nvSpPr>
        <p:spPr>
          <a:xfrm>
            <a:off x="4343400" y="2946240"/>
            <a:ext cx="3504960" cy="1898640"/>
          </a:xfrm>
          <a:prstGeom prst="roundRect">
            <a:avLst>
              <a:gd name="adj" fmla="val 6985"/>
            </a:avLst>
          </a:prstGeom>
          <a:solidFill>
            <a:srgbClr val="F0FDF4"/>
          </a:solidFill>
          <a:ln w="9525">
            <a:solidFill>
              <a:srgbClr val="BBF7D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Google Shape;162;p18"/>
          <p:cNvSpPr/>
          <p:nvPr/>
        </p:nvSpPr>
        <p:spPr>
          <a:xfrm>
            <a:off x="8077320" y="2946240"/>
            <a:ext cx="3504960" cy="1898640"/>
          </a:xfrm>
          <a:prstGeom prst="roundRect">
            <a:avLst>
              <a:gd name="adj" fmla="val 6985"/>
            </a:avLst>
          </a:prstGeom>
          <a:solidFill>
            <a:srgbClr val="FFF1F2"/>
          </a:solidFill>
          <a:ln w="9525">
            <a:solidFill>
              <a:srgbClr val="FECDD3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" name="Google Shape;163;p18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5960" y="3260520"/>
            <a:ext cx="14256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Google Shape;164;p18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95760" y="324612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Google Shape;165;p18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353440" y="3246120"/>
            <a:ext cx="2376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Google Shape;166;p18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ENCAPSULAMENTO (POO)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67;p18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Explicação &amp; Trade-offs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68;p18"/>
          <p:cNvSpPr/>
          <p:nvPr/>
        </p:nvSpPr>
        <p:spPr>
          <a:xfrm>
            <a:off x="885960" y="3222360"/>
            <a:ext cx="3875040" cy="237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1924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369A1"/>
                </a:solidFill>
                <a:latin typeface="Plus Jakarta Sans"/>
                <a:ea typeface="Plus Jakarta Sans"/>
              </a:rPr>
              <a:t>Explicação Prática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69;p18"/>
          <p:cNvSpPr/>
          <p:nvPr/>
        </p:nvSpPr>
        <p:spPr>
          <a:xfrm>
            <a:off x="938520" y="357480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4A6E"/>
                </a:solidFill>
                <a:highlight>
                  <a:srgbClr val="F0F9FF"/>
                </a:highlight>
                <a:latin typeface="Plus Jakarta Sans"/>
                <a:ea typeface="Plus Jakarta Sans"/>
              </a:rPr>
              <a:t>O atributo 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E0F2FE"/>
                </a:highlight>
                <a:latin typeface="Roboto Mono"/>
                <a:ea typeface="Roboto Mono"/>
              </a:rPr>
              <a:t>#saldo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F0F9FF"/>
                </a:highlight>
                <a:latin typeface="Plus Jakarta Sans"/>
                <a:ea typeface="Plus Jakarta Sans"/>
              </a:rPr>
              <a:t> não pode ser zerado ou alterado de fora sem passar pelas regras de validação do método 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E0F2FE"/>
                </a:highlight>
                <a:latin typeface="Roboto Mono"/>
                <a:ea typeface="Roboto Mono"/>
              </a:rPr>
              <a:t>sacar()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F0F9FF"/>
                </a:highlight>
                <a:latin typeface="Plus Jakarta Sans"/>
                <a:ea typeface="Plus Jakarta Sans"/>
              </a:rPr>
              <a:t>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Google Shape;170;p18"/>
          <p:cNvSpPr/>
          <p:nvPr/>
        </p:nvSpPr>
        <p:spPr>
          <a:xfrm>
            <a:off x="4619520" y="3225960"/>
            <a:ext cx="387504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6676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latin typeface="Plus Jakarta Sans"/>
                <a:ea typeface="Plus Jakarta Sans"/>
              </a:rPr>
              <a:t>Vantagens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Google Shape;171;p18"/>
          <p:cNvSpPr/>
          <p:nvPr/>
        </p:nvSpPr>
        <p:spPr>
          <a:xfrm>
            <a:off x="4572000" y="357480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4532D"/>
                </a:solidFill>
                <a:highlight>
                  <a:srgbClr val="F0FDF4"/>
                </a:highlight>
                <a:latin typeface="Plus Jakarta Sans"/>
                <a:ea typeface="Plus Jakarta Sans"/>
              </a:rPr>
              <a:t>Proteção contra dados corrompidos, facilidade de manutenção e desacoplamento de detalhes internos.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Google Shape;172;p18"/>
          <p:cNvSpPr/>
          <p:nvPr/>
        </p:nvSpPr>
        <p:spPr>
          <a:xfrm>
            <a:off x="8353440" y="3236760"/>
            <a:ext cx="383832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31428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latin typeface="Plus Jakarta Sans"/>
                <a:ea typeface="Plus Jakarta Sans"/>
              </a:rPr>
              <a:t>Trade-offs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Google Shape;173;p18"/>
          <p:cNvSpPr/>
          <p:nvPr/>
        </p:nvSpPr>
        <p:spPr>
          <a:xfrm>
            <a:off x="8305920" y="357480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81337"/>
                </a:solidFill>
                <a:highlight>
                  <a:srgbClr val="FFF1F2"/>
                </a:highlight>
                <a:latin typeface="Plus Jakarta Sans"/>
                <a:ea typeface="Plus Jakarta Sans"/>
              </a:rPr>
              <a:t>Escrever métodos boilerplate extras e potencial verbosidade quando muitos atributos precisam de acesso legível.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5374183"/>
            <a:ext cx="3054399" cy="788491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5374183"/>
            <a:ext cx="3054399" cy="788491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5355133"/>
            <a:ext cx="3054399" cy="807541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5374183"/>
            <a:ext cx="38100" cy="788491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68874" y="5374183"/>
            <a:ext cx="38100" cy="788491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024" y="5355133"/>
            <a:ext cx="38100" cy="807541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7725" y="1566862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68874" y="1566862"/>
            <a:ext cx="19050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290024" y="1566862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725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"Criar getter e setter para todos os atributos não anula o encapsulamento?"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125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369A1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369A1"/>
                </a:solidFill>
                <a:latin typeface="Plus Jakarta Sans"/>
              </a:rPr>
              <a:t> Sim, getters/setters cegos geram modelo anêmico. Exponha apenas comportamentos de negócio.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87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"Encapsulamento serve para segurança de dados ou organização de código?"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127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369A1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369A1"/>
                </a:solidFill>
                <a:latin typeface="Plus Jakarta Sans"/>
              </a:rPr>
              <a:t> Proteção de invariantes de negócio e redução de acoplamento, não criptografia/segurança cibernética.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002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"Como funciona em linguagens sem modificadores private nativos ou antigos?"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2424" y="5469433"/>
            <a:ext cx="2882949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369A1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369A1"/>
                </a:solidFill>
                <a:latin typeface="Plus Jakarta Sans"/>
              </a:rPr>
              <a:t> JS possui private fields (#saldo); Python usa convenção (_saldo) e name mangling.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475" y="1552575"/>
            <a:ext cx="286285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Getters/Setters em Tudo?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4624" y="1552575"/>
            <a:ext cx="2662832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Segurança vs Ocultação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5774" y="1552575"/>
            <a:ext cx="212526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JavaScript / Python</a:t>
            </a:r>
          </a:p>
        </p:txBody>
      </p:sp>
      <p:sp>
        <p:nvSpPr>
          <p:cNvPr id="28" name="Google Shape;138;p16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ENCAPSULAMENTO (POO)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oogle Shape;167;p18"/>
          <p:cNvSpPr/>
          <p:nvPr/>
        </p:nvSpPr>
        <p:spPr>
          <a:xfrm>
            <a:off x="609480" y="704880"/>
            <a:ext cx="1158192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tabLst>
                <a:tab pos="0" algn="l"/>
              </a:tabLst>
            </a:pPr>
            <a:r>
              <a:rPr lang="en-US" sz="2400" b="1">
                <a:solidFill>
                  <a:srgbClr val="0F172A"/>
                </a:solidFill>
                <a:latin typeface="Plus Jakarta Sans"/>
              </a:rPr>
              <a:t>Encapsulamento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: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Perguntas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Frequentes</a:t>
            </a:r>
            <a:endParaRPr lang="en-US" sz="2400">
              <a:solidFill>
                <a:srgbClr val="000000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84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78;p19"/>
          <p:cNvSpPr/>
          <p:nvPr/>
        </p:nvSpPr>
        <p:spPr>
          <a:xfrm>
            <a:off x="609480" y="2666880"/>
            <a:ext cx="115819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AE6FD"/>
                </a:solidFill>
                <a:latin typeface="Plus Jakarta Sans"/>
                <a:ea typeface="Plus Jakarta Sans"/>
              </a:rPr>
              <a:t>TÓPICO 02</a:t>
            </a:r>
            <a:endParaRPr lang="pt-BR" sz="1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Google Shape;179;p19"/>
          <p:cNvSpPr/>
          <p:nvPr/>
        </p:nvSpPr>
        <p:spPr>
          <a:xfrm>
            <a:off x="609480" y="2981160"/>
            <a:ext cx="11581920" cy="580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latin typeface="Plus Jakarta Sans"/>
                <a:ea typeface="Plus Jakarta Sans"/>
              </a:rPr>
              <a:t>Chain of Responsibility</a:t>
            </a:r>
            <a:endParaRPr lang="pt-BR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Google Shape;180;p19"/>
          <p:cNvSpPr/>
          <p:nvPr/>
        </p:nvSpPr>
        <p:spPr>
          <a:xfrm>
            <a:off x="609480" y="3714840"/>
            <a:ext cx="6571800" cy="4759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0F2FE"/>
                </a:solidFill>
                <a:latin typeface="Plus Jakarta Sans"/>
                <a:ea typeface="Plus Jakarta Sans"/>
              </a:rPr>
              <a:t>Design Pattern Comportamental para passar requisições ao longo de uma corrente de manipuladores.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85;p20"/>
          <p:cNvSpPr/>
          <p:nvPr/>
        </p:nvSpPr>
        <p:spPr>
          <a:xfrm>
            <a:off x="5857920" y="2776680"/>
            <a:ext cx="5724000" cy="2161800"/>
          </a:xfrm>
          <a:prstGeom prst="roundRect">
            <a:avLst>
              <a:gd name="adj" fmla="val 7048"/>
            </a:avLst>
          </a:prstGeom>
          <a:solidFill>
            <a:srgbClr val="F0F9FF"/>
          </a:solidFill>
          <a:ln w="9525">
            <a:solidFill>
              <a:srgbClr val="BAE6FD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Google Shape;186;p20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15360" y="3166920"/>
            <a:ext cx="609120" cy="60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oogle Shape;187;p20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269568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Google Shape;188;p20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354348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Google Shape;189;p20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439092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Google Shape;190;p20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CHAIN OF RESPONSIBILITY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Google Shape;191;p20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Entendimento do Conceito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oogle Shape;192;p20"/>
          <p:cNvSpPr/>
          <p:nvPr/>
        </p:nvSpPr>
        <p:spPr>
          <a:xfrm>
            <a:off x="5475960" y="4005360"/>
            <a:ext cx="6487920" cy="2664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Fluxo Middleware</a:t>
            </a:r>
            <a:endParaRPr lang="pt-BR" sz="1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oogle Shape;193;p20"/>
          <p:cNvSpPr/>
          <p:nvPr/>
        </p:nvSpPr>
        <p:spPr>
          <a:xfrm>
            <a:off x="5630400" y="4348080"/>
            <a:ext cx="617904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369A1"/>
                </a:solidFill>
                <a:latin typeface="Plus Jakarta Sans"/>
                <a:ea typeface="Plus Jakarta Sans"/>
              </a:rPr>
              <a:t>AuthHandler ➔ ValidationHandler ➔ LogHandler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Google Shape;194;p20"/>
          <p:cNvSpPr/>
          <p:nvPr/>
        </p:nvSpPr>
        <p:spPr>
          <a:xfrm>
            <a:off x="952560" y="26812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Desacoplamento Remetente-Receptor: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Google Shape;195;p20"/>
          <p:cNvSpPr/>
          <p:nvPr/>
        </p:nvSpPr>
        <p:spPr>
          <a:xfrm>
            <a:off x="952560" y="35290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Pipeline Sequencial: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196;p20"/>
          <p:cNvSpPr/>
          <p:nvPr/>
        </p:nvSpPr>
        <p:spPr>
          <a:xfrm>
            <a:off x="952560" y="43768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Flexibilidade Dinâmica: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Google Shape;197;p20"/>
          <p:cNvSpPr/>
          <p:nvPr/>
        </p:nvSpPr>
        <p:spPr>
          <a:xfrm>
            <a:off x="952560" y="29383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Quem envia a requisição não precisa conhecer quem irá processá-la.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Google Shape;198;p20"/>
          <p:cNvSpPr/>
          <p:nvPr/>
        </p:nvSpPr>
        <p:spPr>
          <a:xfrm>
            <a:off x="952560" y="37861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Cada handler decide processar ou repassar para o próximo elemento da fila.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199;p20"/>
          <p:cNvSpPr/>
          <p:nvPr/>
        </p:nvSpPr>
        <p:spPr>
          <a:xfrm>
            <a:off x="952560" y="46339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Adicione ou remova verificações sem alterar o código do cliente.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204;p21"/>
          <p:cNvSpPr/>
          <p:nvPr/>
        </p:nvSpPr>
        <p:spPr>
          <a:xfrm>
            <a:off x="609480" y="1643400"/>
            <a:ext cx="10972440" cy="5055120"/>
          </a:xfrm>
          <a:prstGeom prst="roundRect">
            <a:avLst>
              <a:gd name="adj" fmla="val 4178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Google Shape;205;p21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CHAIN OF RESPONSIBILITY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Google Shape;206;p21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Aplicação no Código (Middleware System)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207;p21"/>
          <p:cNvSpPr/>
          <p:nvPr/>
        </p:nvSpPr>
        <p:spPr>
          <a:xfrm>
            <a:off x="1069560" y="2000520"/>
            <a:ext cx="10052640" cy="434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abstract 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private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next: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|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null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=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null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setNext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(h: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.next = h;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h;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handle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(req: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any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boolean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if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(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.next)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.next.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handle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(req);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true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AuthHandler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extends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Handler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handle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(req: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any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boolean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if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(!req.isAuth)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false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</a:t>
            </a:r>
            <a:r>
              <a:rPr lang="en-US" sz="1200" b="0" i="1" u="none" strike="noStrike">
                <a:solidFill>
                  <a:srgbClr val="64748B"/>
                </a:solidFill>
                <a:latin typeface="JetBrains Mono"/>
                <a:ea typeface="JetBrains Mono"/>
              </a:rPr>
              <a:t>// Interrompe a corrente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return super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handle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(req);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212;p22"/>
          <p:cNvSpPr/>
          <p:nvPr/>
        </p:nvSpPr>
        <p:spPr>
          <a:xfrm>
            <a:off x="609480" y="2955960"/>
            <a:ext cx="3504960" cy="1879920"/>
          </a:xfrm>
          <a:prstGeom prst="roundRect">
            <a:avLst>
              <a:gd name="adj" fmla="val 6945"/>
            </a:avLst>
          </a:prstGeom>
          <a:solidFill>
            <a:srgbClr val="F0F9FF"/>
          </a:solidFill>
          <a:ln w="9525">
            <a:solidFill>
              <a:srgbClr val="BAE6FD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213;p22"/>
          <p:cNvSpPr/>
          <p:nvPr/>
        </p:nvSpPr>
        <p:spPr>
          <a:xfrm>
            <a:off x="4343400" y="2955600"/>
            <a:ext cx="3504960" cy="1879920"/>
          </a:xfrm>
          <a:prstGeom prst="roundRect">
            <a:avLst>
              <a:gd name="adj" fmla="val 6985"/>
            </a:avLst>
          </a:prstGeom>
          <a:solidFill>
            <a:srgbClr val="F0FDF4"/>
          </a:solidFill>
          <a:ln w="9525">
            <a:solidFill>
              <a:srgbClr val="BBF7D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Google Shape;214;p22"/>
          <p:cNvSpPr/>
          <p:nvPr/>
        </p:nvSpPr>
        <p:spPr>
          <a:xfrm>
            <a:off x="8077320" y="2955600"/>
            <a:ext cx="3504960" cy="1879560"/>
          </a:xfrm>
          <a:prstGeom prst="roundRect">
            <a:avLst>
              <a:gd name="adj" fmla="val 6079"/>
            </a:avLst>
          </a:prstGeom>
          <a:solidFill>
            <a:srgbClr val="FFF1F2"/>
          </a:solidFill>
          <a:ln w="9525">
            <a:solidFill>
              <a:srgbClr val="FECDD3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6" name="Google Shape;215;p22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5960" y="3333600"/>
            <a:ext cx="14256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oogle Shape;216;p22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95760" y="333360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Google Shape;217;p22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353440" y="3333600"/>
            <a:ext cx="2376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Google Shape;218;p22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CHAIN OF RESPONSIBILITY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219;p22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Explicação &amp; Trade-offs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Google Shape;220;p22"/>
          <p:cNvSpPr/>
          <p:nvPr/>
        </p:nvSpPr>
        <p:spPr>
          <a:xfrm>
            <a:off x="914400" y="3313440"/>
            <a:ext cx="299988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1924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369A1"/>
                </a:solidFill>
                <a:latin typeface="Plus Jakarta Sans"/>
                <a:ea typeface="Plus Jakarta Sans"/>
              </a:rPr>
              <a:t>Explicação Prática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221;p22"/>
          <p:cNvSpPr/>
          <p:nvPr/>
        </p:nvSpPr>
        <p:spPr>
          <a:xfrm>
            <a:off x="838080" y="368388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C4A6E"/>
                </a:solidFill>
                <a:highlight>
                  <a:srgbClr val="F0F9FF"/>
                </a:highlight>
                <a:latin typeface="Plus Jakarta Sans"/>
                <a:ea typeface="Plus Jakarta Sans"/>
              </a:rPr>
              <a:t>A requisição passa por 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E0F2FE"/>
                </a:highlight>
                <a:latin typeface="Roboto Mono"/>
                <a:ea typeface="Roboto Mono"/>
              </a:rPr>
              <a:t>AuthHandler</a:t>
            </a:r>
            <a:r>
              <a:rPr lang="en-US" sz="1200" b="0" u="none" strike="noStrike">
                <a:solidFill>
                  <a:srgbClr val="0C4A6E"/>
                </a:solidFill>
                <a:highlight>
                  <a:srgbClr val="F0F9FF"/>
                </a:highlight>
                <a:latin typeface="Plus Jakarta Sans"/>
                <a:ea typeface="Plus Jakarta Sans"/>
              </a:rPr>
              <a:t>. Se falhar, é bloqueada imediatamente sem executar os passos subsequentes.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Google Shape;222;p22"/>
          <p:cNvSpPr/>
          <p:nvPr/>
        </p:nvSpPr>
        <p:spPr>
          <a:xfrm>
            <a:off x="4669200" y="3313440"/>
            <a:ext cx="285372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6676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latin typeface="Plus Jakarta Sans"/>
                <a:ea typeface="Plus Jakarta Sans"/>
              </a:rPr>
              <a:t>Vantagens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Google Shape;223;p22"/>
          <p:cNvSpPr/>
          <p:nvPr/>
        </p:nvSpPr>
        <p:spPr>
          <a:xfrm>
            <a:off x="4619520" y="3706200"/>
            <a:ext cx="3047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4532D"/>
                </a:solidFill>
                <a:latin typeface="Plus Jakarta Sans"/>
                <a:ea typeface="Plus Jakarta Sans"/>
              </a:rPr>
              <a:t>Princípio da Responsabilidade Única (SRP) e Open/Closed (OCP). Facilidade de Reordenação de etapas.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Google Shape;224;p22"/>
          <p:cNvSpPr/>
          <p:nvPr/>
        </p:nvSpPr>
        <p:spPr>
          <a:xfrm>
            <a:off x="8353440" y="3313440"/>
            <a:ext cx="280404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31428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latin typeface="Plus Jakarta Sans"/>
                <a:ea typeface="Plus Jakarta Sans"/>
              </a:rPr>
              <a:t>Trade-offs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225;p22"/>
          <p:cNvSpPr/>
          <p:nvPr/>
        </p:nvSpPr>
        <p:spPr>
          <a:xfrm>
            <a:off x="8353440" y="3706200"/>
            <a:ext cx="31705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81337"/>
                </a:solidFill>
                <a:highlight>
                  <a:srgbClr val="FFF1F2"/>
                </a:highlight>
                <a:latin typeface="Plus Jakarta Sans"/>
                <a:ea typeface="Plus Jakarta Sans"/>
              </a:rPr>
              <a:t>Requisições podem ficar sem atendimento se nenhum handler a tratar; maior dificuldade no rastreio de depuração.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5374183"/>
            <a:ext cx="3054399" cy="788491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5374183"/>
            <a:ext cx="3054399" cy="788491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5374183"/>
            <a:ext cx="3054399" cy="788491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5374183"/>
            <a:ext cx="38100" cy="788491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68874" y="5374183"/>
            <a:ext cx="38100" cy="788491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024" y="5374183"/>
            <a:ext cx="38100" cy="788491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7725" y="1566862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68874" y="1566862"/>
            <a:ext cx="19050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290024" y="1566862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725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"Qual a diferença real para uma sequência simples de IFs ou Decorator?"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125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3730A3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3730A3"/>
                </a:solidFill>
                <a:latin typeface="Plus Jakarta Sans"/>
              </a:rPr>
              <a:t> Permite ordem dinâmica, interceptação antecipada e desacoplamento do emissor.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87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"E se nenhum handler na corrente processar a requisição enviada?"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127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3730A3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3730A3"/>
                </a:solidFill>
                <a:latin typeface="Plus Jakarta Sans"/>
              </a:rPr>
              <a:t> A requisição cai no limbo a menos que haja um NullHandler/DefaultHandler ao final.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002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"Passar por dezenas de handlers não prejudica o desempenho do sistema?"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242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3730A3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3730A3"/>
                </a:solidFill>
                <a:latin typeface="Plus Jakarta Sans"/>
              </a:rPr>
              <a:t> Overhead de chamada de método é irrelevante frente a I/O, mas exige atenção na ordem.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475" y="1552575"/>
            <a:ext cx="256282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Chain vs Decorator / IFs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4624" y="1552575"/>
            <a:ext cx="276284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Requisição sem Resposta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5774" y="1552575"/>
            <a:ext cx="270033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Gargalo de Performance</a:t>
            </a:r>
          </a:p>
        </p:txBody>
      </p:sp>
      <p:sp>
        <p:nvSpPr>
          <p:cNvPr id="28" name="Google Shape;218;p22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CHAIN OF RESPONSIBILITY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oogle Shape;219;p22"/>
          <p:cNvSpPr/>
          <p:nvPr/>
        </p:nvSpPr>
        <p:spPr>
          <a:xfrm>
            <a:off x="609480" y="704880"/>
            <a:ext cx="1158192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tabLst>
                <a:tab pos="0" algn="l"/>
              </a:tabLst>
            </a:pPr>
            <a:r>
              <a:rPr lang="en-US" sz="2400" b="1">
                <a:solidFill>
                  <a:srgbClr val="0F172A"/>
                </a:solidFill>
                <a:latin typeface="Plus Jakarta Sans"/>
              </a:rPr>
              <a:t>Chain of Responsibility: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Perguntas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Frequentes</a:t>
            </a:r>
            <a:endParaRPr lang="en-US" sz="2400">
              <a:solidFill>
                <a:srgbClr val="000000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230;p23"/>
          <p:cNvSpPr/>
          <p:nvPr/>
        </p:nvSpPr>
        <p:spPr>
          <a:xfrm>
            <a:off x="609480" y="2666880"/>
            <a:ext cx="115819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TÓPICO 03</a:t>
            </a:r>
            <a:endParaRPr lang="pt-BR" sz="1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Google Shape;231;p23"/>
          <p:cNvSpPr/>
          <p:nvPr/>
        </p:nvSpPr>
        <p:spPr>
          <a:xfrm>
            <a:off x="609480" y="2981160"/>
            <a:ext cx="11581920" cy="580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latin typeface="Plus Jakarta Sans"/>
                <a:ea typeface="Plus Jakarta Sans"/>
              </a:rPr>
              <a:t>Command Pattern</a:t>
            </a:r>
            <a:endParaRPr lang="pt-BR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Google Shape;232;p23"/>
          <p:cNvSpPr/>
          <p:nvPr/>
        </p:nvSpPr>
        <p:spPr>
          <a:xfrm>
            <a:off x="609480" y="3714840"/>
            <a:ext cx="6571800" cy="4759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CFBF1"/>
                </a:solidFill>
                <a:latin typeface="Plus Jakarta Sans"/>
                <a:ea typeface="Plus Jakarta Sans"/>
              </a:rPr>
              <a:t>Transformação de ações em objetos de primeira classe com suporte a filas e desfazer operações.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237;p24"/>
          <p:cNvSpPr/>
          <p:nvPr/>
        </p:nvSpPr>
        <p:spPr>
          <a:xfrm>
            <a:off x="5857920" y="2776680"/>
            <a:ext cx="5724000" cy="2161800"/>
          </a:xfrm>
          <a:prstGeom prst="roundRect">
            <a:avLst>
              <a:gd name="adj" fmla="val 7048"/>
            </a:avLst>
          </a:prstGeom>
          <a:solidFill>
            <a:srgbClr val="F0FDF4"/>
          </a:solidFill>
          <a:ln w="9525">
            <a:solidFill>
              <a:srgbClr val="CCFBF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1" name="Google Shape;238;p24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15360" y="3166920"/>
            <a:ext cx="609120" cy="60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oogle Shape;239;p24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279576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Google Shape;240;p24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364320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oogle Shape;241;p24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449100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Google Shape;242;p24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COMMAND PATTERN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Google Shape;243;p24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Entendimento do Conceito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Google Shape;244;p24"/>
          <p:cNvSpPr/>
          <p:nvPr/>
        </p:nvSpPr>
        <p:spPr>
          <a:xfrm>
            <a:off x="5475960" y="4005360"/>
            <a:ext cx="6487920" cy="2664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Command Wrapper</a:t>
            </a:r>
            <a:endParaRPr lang="pt-BR" sz="1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Google Shape;245;p24"/>
          <p:cNvSpPr/>
          <p:nvPr/>
        </p:nvSpPr>
        <p:spPr>
          <a:xfrm>
            <a:off x="5630400" y="4348080"/>
            <a:ext cx="617904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F766E"/>
                </a:solidFill>
                <a:latin typeface="Plus Jakarta Sans"/>
                <a:ea typeface="Plus Jakarta Sans"/>
              </a:rPr>
              <a:t>Interface { execute(), undo()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246;p24"/>
          <p:cNvSpPr/>
          <p:nvPr/>
        </p:nvSpPr>
        <p:spPr>
          <a:xfrm>
            <a:off x="952560" y="278136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Ações como Objetos: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47;p24"/>
          <p:cNvSpPr/>
          <p:nvPr/>
        </p:nvSpPr>
        <p:spPr>
          <a:xfrm>
            <a:off x="952560" y="362916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Suporte a Reversão (Undo/Redo):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48;p24"/>
          <p:cNvSpPr/>
          <p:nvPr/>
        </p:nvSpPr>
        <p:spPr>
          <a:xfrm>
            <a:off x="952560" y="4476600"/>
            <a:ext cx="460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Agendamento e Filas: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49;p24"/>
          <p:cNvSpPr/>
          <p:nvPr/>
        </p:nvSpPr>
        <p:spPr>
          <a:xfrm>
            <a:off x="952560" y="303840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Encapsula todos os parâmetros e contextos de uma chamada em uma classe isolada.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Google Shape;250;p24"/>
          <p:cNvSpPr/>
          <p:nvPr/>
        </p:nvSpPr>
        <p:spPr>
          <a:xfrm>
            <a:off x="952560" y="388620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Facilita o armazenamento do histórico de operações executadas para desfazer alterações.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251;p24"/>
          <p:cNvSpPr/>
          <p:nvPr/>
        </p:nvSpPr>
        <p:spPr>
          <a:xfrm>
            <a:off x="952560" y="4734000"/>
            <a:ext cx="56311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Permite enfileirar tarefas para execução diferida ou assíncrona.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256;p25"/>
          <p:cNvSpPr/>
          <p:nvPr/>
        </p:nvSpPr>
        <p:spPr>
          <a:xfrm>
            <a:off x="609480" y="1735920"/>
            <a:ext cx="10972440" cy="4384080"/>
          </a:xfrm>
          <a:prstGeom prst="roundRect">
            <a:avLst>
              <a:gd name="adj" fmla="val 5230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Google Shape;257;p25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COMMAND PATTERN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258;p25"/>
          <p:cNvSpPr/>
          <p:nvPr/>
        </p:nvSpPr>
        <p:spPr>
          <a:xfrm>
            <a:off x="609480" y="704880"/>
            <a:ext cx="1158192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Aplicação</a:t>
            </a: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 no Código (TransferCommand)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Google Shape;259;p25"/>
          <p:cNvSpPr/>
          <p:nvPr/>
        </p:nvSpPr>
        <p:spPr>
          <a:xfrm>
            <a:off x="1122480" y="1976400"/>
            <a:ext cx="9946800" cy="38404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Command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execute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     undo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TransferCommand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implements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Command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constructor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 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private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acc: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BankAccount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, 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 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private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valor: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) {}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 lvl="1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execute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.acc.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sacar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.valor);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   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public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undo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{ 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.acc.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sacar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(-</a:t>
            </a: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this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.valor);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264;p26"/>
          <p:cNvSpPr/>
          <p:nvPr/>
        </p:nvSpPr>
        <p:spPr>
          <a:xfrm>
            <a:off x="609480" y="3067920"/>
            <a:ext cx="3504960" cy="1654920"/>
          </a:xfrm>
          <a:prstGeom prst="roundRect">
            <a:avLst>
              <a:gd name="adj" fmla="val 6905"/>
            </a:avLst>
          </a:prstGeom>
          <a:solidFill>
            <a:srgbClr val="F0FDF4"/>
          </a:solidFill>
          <a:ln w="9525">
            <a:solidFill>
              <a:srgbClr val="CCFBF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265;p26"/>
          <p:cNvSpPr/>
          <p:nvPr/>
        </p:nvSpPr>
        <p:spPr>
          <a:xfrm>
            <a:off x="4343400" y="3077640"/>
            <a:ext cx="3504960" cy="1635840"/>
          </a:xfrm>
          <a:prstGeom prst="roundRect">
            <a:avLst>
              <a:gd name="adj" fmla="val 6985"/>
            </a:avLst>
          </a:prstGeom>
          <a:solidFill>
            <a:srgbClr val="F0FDF4"/>
          </a:solidFill>
          <a:ln w="9525">
            <a:solidFill>
              <a:srgbClr val="BBF7D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266;p26"/>
          <p:cNvSpPr/>
          <p:nvPr/>
        </p:nvSpPr>
        <p:spPr>
          <a:xfrm>
            <a:off x="8077320" y="3077640"/>
            <a:ext cx="3504960" cy="1635840"/>
          </a:xfrm>
          <a:prstGeom prst="roundRect">
            <a:avLst>
              <a:gd name="adj" fmla="val 6985"/>
            </a:avLst>
          </a:prstGeom>
          <a:solidFill>
            <a:srgbClr val="FFF1F2"/>
          </a:solidFill>
          <a:ln w="9525">
            <a:solidFill>
              <a:srgbClr val="FECDD3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Google Shape;267;p26"/>
          <p:cNvSpPr/>
          <p:nvPr/>
        </p:nvSpPr>
        <p:spPr>
          <a:xfrm>
            <a:off x="1504800" y="3715920"/>
            <a:ext cx="1485720" cy="218880"/>
          </a:xfrm>
          <a:prstGeom prst="roundRect">
            <a:avLst>
              <a:gd name="adj" fmla="val 17391"/>
            </a:avLst>
          </a:prstGeom>
          <a:solidFill>
            <a:srgbClr val="E6FFF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Google Shape;268;p26"/>
          <p:cNvSpPr/>
          <p:nvPr/>
        </p:nvSpPr>
        <p:spPr>
          <a:xfrm>
            <a:off x="1695600" y="4212720"/>
            <a:ext cx="662760" cy="218880"/>
          </a:xfrm>
          <a:prstGeom prst="roundRect">
            <a:avLst>
              <a:gd name="adj" fmla="val 17391"/>
            </a:avLst>
          </a:prstGeom>
          <a:solidFill>
            <a:srgbClr val="E6FFF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oogle Shape;269;p26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5960" y="3382560"/>
            <a:ext cx="14256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Google Shape;270;p2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619520" y="339192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oogle Shape;271;p26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353440" y="3391920"/>
            <a:ext cx="2376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Google Shape;272;p26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COMMAND PATTERN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273;p26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Explicação &amp; Trade-offs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274;p26"/>
          <p:cNvSpPr/>
          <p:nvPr/>
        </p:nvSpPr>
        <p:spPr>
          <a:xfrm>
            <a:off x="885960" y="3344400"/>
            <a:ext cx="3875040" cy="237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1924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766E"/>
                </a:solidFill>
                <a:latin typeface="Plus Jakarta Sans"/>
                <a:ea typeface="Plus Jakarta Sans"/>
              </a:rPr>
              <a:t>Explicação Prática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275;p26"/>
          <p:cNvSpPr/>
          <p:nvPr/>
        </p:nvSpPr>
        <p:spPr>
          <a:xfrm>
            <a:off x="885960" y="369684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15E59"/>
                </a:solidFill>
                <a:highlight>
                  <a:srgbClr val="F0FDF4"/>
                </a:highlight>
                <a:latin typeface="Plus Jakarta Sans"/>
                <a:ea typeface="Plus Jakarta Sans"/>
              </a:rPr>
              <a:t>A classe </a:t>
            </a:r>
            <a:r>
              <a:rPr lang="en-US" sz="1200" b="0" u="none" strike="noStrike">
                <a:solidFill>
                  <a:srgbClr val="115E59"/>
                </a:solidFill>
                <a:highlight>
                  <a:srgbClr val="E6FFFA"/>
                </a:highlight>
                <a:latin typeface="Roboto Mono"/>
                <a:ea typeface="Roboto Mono"/>
              </a:rPr>
              <a:t>TransferCommand</a:t>
            </a:r>
            <a:r>
              <a:rPr lang="en-US" sz="1200" b="0" u="none" strike="noStrike">
                <a:solidFill>
                  <a:srgbClr val="115E59"/>
                </a:solidFill>
                <a:highlight>
                  <a:srgbClr val="F0FDF4"/>
                </a:highlight>
                <a:latin typeface="Plus Jakarta Sans"/>
                <a:ea typeface="Plus Jakarta Sans"/>
              </a:rPr>
              <a:t> guarda os dados e sabe como reverter a operação chamando </a:t>
            </a:r>
            <a:r>
              <a:rPr lang="en-US" sz="1200" b="0" u="none" strike="noStrike">
                <a:solidFill>
                  <a:srgbClr val="115E59"/>
                </a:solidFill>
                <a:highlight>
                  <a:srgbClr val="E6FFFA"/>
                </a:highlight>
                <a:latin typeface="Roboto Mono"/>
                <a:ea typeface="Roboto Mono"/>
              </a:rPr>
              <a:t>undo()</a:t>
            </a:r>
            <a:r>
              <a:rPr lang="en-US" sz="1200" b="0" u="none" strike="noStrike">
                <a:solidFill>
                  <a:srgbClr val="115E59"/>
                </a:solidFill>
                <a:highlight>
                  <a:srgbClr val="F0FDF4"/>
                </a:highlight>
                <a:latin typeface="Plus Jakarta Sans"/>
                <a:ea typeface="Plus Jakarta Sans"/>
              </a:rPr>
              <a:t>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Google Shape;276;p26"/>
          <p:cNvSpPr/>
          <p:nvPr/>
        </p:nvSpPr>
        <p:spPr>
          <a:xfrm>
            <a:off x="4619520" y="3353760"/>
            <a:ext cx="3875040" cy="237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6676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latin typeface="Plus Jakarta Sans"/>
                <a:ea typeface="Plus Jakarta Sans"/>
              </a:rPr>
              <a:t>Vantagens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Google Shape;277;p26"/>
          <p:cNvSpPr/>
          <p:nvPr/>
        </p:nvSpPr>
        <p:spPr>
          <a:xfrm>
            <a:off x="4619520" y="3706200"/>
            <a:ext cx="3047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4532D"/>
                </a:solidFill>
                <a:latin typeface="Plus Jakarta Sans"/>
                <a:ea typeface="Plus Jakarta Sans"/>
              </a:rPr>
              <a:t>Desacoplamento total entre o emissor da ação e a execução de negócios; suporte nativo a histórico e undo.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278;p26"/>
          <p:cNvSpPr/>
          <p:nvPr/>
        </p:nvSpPr>
        <p:spPr>
          <a:xfrm>
            <a:off x="8353440" y="3353760"/>
            <a:ext cx="3838320" cy="237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31428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latin typeface="Plus Jakarta Sans"/>
                <a:ea typeface="Plus Jakarta Sans"/>
              </a:rPr>
              <a:t>Trade-offs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279;p26"/>
          <p:cNvSpPr/>
          <p:nvPr/>
        </p:nvSpPr>
        <p:spPr>
          <a:xfrm>
            <a:off x="8353440" y="370620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81337"/>
                </a:solidFill>
                <a:latin typeface="Plus Jakarta Sans"/>
                <a:ea typeface="Plus Jakarta Sans"/>
              </a:rPr>
              <a:t>Proliferação acentuada de pequenas classes para cada comando específico na aplicação.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5374183"/>
            <a:ext cx="3054399" cy="788491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5374183"/>
            <a:ext cx="3054399" cy="788491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5374183"/>
            <a:ext cx="3054399" cy="788491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5374183"/>
            <a:ext cx="38100" cy="78849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68874" y="5374183"/>
            <a:ext cx="38100" cy="78849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024" y="5374183"/>
            <a:ext cx="38100" cy="78849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7725" y="1566862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68874" y="1566862"/>
            <a:ext cx="19050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290024" y="1566862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725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"Vale a pena criar uma nova classe para cada ação do sistema?"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125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47857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47857"/>
                </a:solidFill>
                <a:latin typeface="Plus Jakarta Sans"/>
              </a:rPr>
              <a:t> Vale quando precisa de Undo/Redo, filas, histórico ou agendamento. Se simples, evite.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87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"Como gerenciar estado anterior em operações complexas no banco?"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127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47857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47857"/>
                </a:solidFill>
                <a:latin typeface="Plus Jakarta Sans"/>
              </a:rPr>
              <a:t> Combine com Memento para snapshot ou execute transação compensatória (Saga pattern).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002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"Qual a diferença técnica entre o padrão Command e o Strategy?"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242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047857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047857"/>
                </a:solidFill>
                <a:latin typeface="Plus Jakarta Sans"/>
              </a:rPr>
              <a:t> Strategy varia </a:t>
            </a:r>
            <a:r>
              <a:rPr sz="1050" b="0" i="1" u="none">
                <a:solidFill>
                  <a:srgbClr val="047857"/>
                </a:solidFill>
                <a:latin typeface="Plus Jakarta Sans"/>
              </a:rPr>
              <a:t>como</a:t>
            </a:r>
            <a:r>
              <a:rPr sz="1050" b="0" i="0" u="none">
                <a:solidFill>
                  <a:srgbClr val="047857"/>
                </a:solidFill>
                <a:latin typeface="Plus Jakarta Sans"/>
              </a:rPr>
              <a:t> fazer um algoritmo. Command encapsula </a:t>
            </a:r>
            <a:r>
              <a:rPr sz="1050" b="0" i="1" u="none">
                <a:solidFill>
                  <a:srgbClr val="047857"/>
                </a:solidFill>
                <a:latin typeface="Plus Jakarta Sans"/>
              </a:rPr>
              <a:t>o que</a:t>
            </a:r>
            <a:r>
              <a:rPr sz="1050" b="0" i="0" u="none">
                <a:solidFill>
                  <a:srgbClr val="047857"/>
                </a:solidFill>
                <a:latin typeface="Plus Jakarta Sans"/>
              </a:rPr>
              <a:t> executar como objeto.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475" y="1552575"/>
            <a:ext cx="211276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Excesso de Classes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4624" y="1552575"/>
            <a:ext cx="26003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Complexidade no Undo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5774" y="1552575"/>
            <a:ext cx="243780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Command vs Strategy</a:t>
            </a:r>
          </a:p>
        </p:txBody>
      </p:sp>
      <p:sp>
        <p:nvSpPr>
          <p:cNvPr id="28" name="Google Shape;272;p26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COMMAND PATTERN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oogle Shape;273;p26"/>
          <p:cNvSpPr/>
          <p:nvPr/>
        </p:nvSpPr>
        <p:spPr>
          <a:xfrm>
            <a:off x="609480" y="704880"/>
            <a:ext cx="1158192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tabLst>
                <a:tab pos="0" algn="l"/>
              </a:tabLst>
            </a:pPr>
            <a:r>
              <a:rPr lang="en-US" sz="2400" b="1">
                <a:solidFill>
                  <a:srgbClr val="0F172A"/>
                </a:solidFill>
                <a:latin typeface="Plus Jakarta Sans"/>
              </a:rPr>
              <a:t>Command Pattern: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Perguntas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Frequentes</a:t>
            </a:r>
            <a:endParaRPr lang="en-US" sz="2400" u="sng">
              <a:solidFill>
                <a:srgbClr val="000000"/>
              </a:solidFill>
              <a:latin typeface="Plus Jakarta Sans"/>
              <a:cs typeface="Plus Jakarta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84;p27"/>
          <p:cNvSpPr/>
          <p:nvPr/>
        </p:nvSpPr>
        <p:spPr>
          <a:xfrm>
            <a:off x="609480" y="2666880"/>
            <a:ext cx="115819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DD6FE"/>
                </a:solidFill>
                <a:latin typeface="Plus Jakarta Sans"/>
                <a:ea typeface="Plus Jakarta Sans"/>
              </a:rPr>
              <a:t>TÓPICO 04</a:t>
            </a:r>
            <a:endParaRPr lang="pt-BR" sz="1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Google Shape;285;p27"/>
          <p:cNvSpPr/>
          <p:nvPr/>
        </p:nvSpPr>
        <p:spPr>
          <a:xfrm>
            <a:off x="609480" y="2981160"/>
            <a:ext cx="11581920" cy="580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latin typeface="Plus Jakarta Sans"/>
                <a:ea typeface="Plus Jakarta Sans"/>
              </a:rPr>
              <a:t>Interface Segregation Principle</a:t>
            </a:r>
            <a:endParaRPr lang="pt-BR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Google Shape;286;p27"/>
          <p:cNvSpPr/>
          <p:nvPr/>
        </p:nvSpPr>
        <p:spPr>
          <a:xfrm>
            <a:off x="609480" y="3714840"/>
            <a:ext cx="6957000" cy="461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DE9FE"/>
                </a:solidFill>
                <a:latin typeface="Plus Jakarta Sans"/>
                <a:ea typeface="Plus Jakarta Sans"/>
              </a:rPr>
              <a:t>Princípio do S.O.L.I.D: 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DE9FE"/>
                </a:solidFill>
                <a:latin typeface="Plus Jakarta Sans"/>
                <a:ea typeface="Plus Jakarta Sans"/>
              </a:rPr>
              <a:t>"Clientes não devem ser forçados a depender de interfaces que não usam".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91;p28"/>
          <p:cNvSpPr/>
          <p:nvPr/>
        </p:nvSpPr>
        <p:spPr>
          <a:xfrm>
            <a:off x="5857920" y="2776680"/>
            <a:ext cx="5724000" cy="2161800"/>
          </a:xfrm>
          <a:prstGeom prst="roundRect">
            <a:avLst>
              <a:gd name="adj" fmla="val 7048"/>
            </a:avLst>
          </a:prstGeom>
          <a:solidFill>
            <a:srgbClr val="F5F3FF"/>
          </a:solidFill>
          <a:ln w="9525">
            <a:solidFill>
              <a:srgbClr val="DDD6F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Google Shape;292;p28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15360" y="3166920"/>
            <a:ext cx="609120" cy="60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oogle Shape;293;p28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269568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1" name="Google Shape;294;p28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354348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Google Shape;295;p28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480" y="4390920"/>
            <a:ext cx="19008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Google Shape;296;p28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INTERFACE SEGREGATION PRINCIPLE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Google Shape;297;p28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Entendimento do Conceito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Google Shape;298;p28"/>
          <p:cNvSpPr/>
          <p:nvPr/>
        </p:nvSpPr>
        <p:spPr>
          <a:xfrm>
            <a:off x="5475960" y="4005360"/>
            <a:ext cx="6487920" cy="2664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Segregação Eficiente</a:t>
            </a:r>
            <a:endParaRPr lang="pt-BR" sz="1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299;p28"/>
          <p:cNvSpPr/>
          <p:nvPr/>
        </p:nvSpPr>
        <p:spPr>
          <a:xfrm>
            <a:off x="5630400" y="4348080"/>
            <a:ext cx="617904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D28D9"/>
                </a:solidFill>
                <a:latin typeface="Plus Jakarta Sans"/>
                <a:ea typeface="Plus Jakarta Sans"/>
              </a:rPr>
              <a:t>Dividir contratos gordos em pequenos papéis específicos.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Google Shape;300;p28"/>
          <p:cNvSpPr/>
          <p:nvPr/>
        </p:nvSpPr>
        <p:spPr>
          <a:xfrm>
            <a:off x="952560" y="26812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Interfaces Coesas e Magras: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Google Shape;301;p28"/>
          <p:cNvSpPr/>
          <p:nvPr/>
        </p:nvSpPr>
        <p:spPr>
          <a:xfrm>
            <a:off x="952560" y="35290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Eliminação de Métodos Inúteis: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Google Shape;302;p28"/>
          <p:cNvSpPr/>
          <p:nvPr/>
        </p:nvSpPr>
        <p:spPr>
          <a:xfrm>
            <a:off x="952560" y="4376880"/>
            <a:ext cx="4695480" cy="657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Menor Impacto de Mudanças:</a:t>
            </a:r>
            <a:endParaRPr lang="pt-BR" sz="13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Google Shape;303;p28"/>
          <p:cNvSpPr/>
          <p:nvPr/>
        </p:nvSpPr>
        <p:spPr>
          <a:xfrm>
            <a:off x="952560" y="29383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Prefira múltiplas interfaces específicas a uma interface genérica e obesa.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Google Shape;304;p28"/>
          <p:cNvSpPr/>
          <p:nvPr/>
        </p:nvSpPr>
        <p:spPr>
          <a:xfrm>
            <a:off x="952560" y="37861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Evita classes com métodos vazios ou lançando exceções de não implementado.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Google Shape;305;p28"/>
          <p:cNvSpPr/>
          <p:nvPr/>
        </p:nvSpPr>
        <p:spPr>
          <a:xfrm>
            <a:off x="952560" y="4633920"/>
            <a:ext cx="46954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latin typeface="Plus Jakarta Sans"/>
                <a:ea typeface="Plus Jakarta Sans"/>
              </a:rPr>
              <a:t>Alterações em um contrato afetam exclusivamente os módulos interessados.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310;p29"/>
          <p:cNvSpPr/>
          <p:nvPr/>
        </p:nvSpPr>
        <p:spPr>
          <a:xfrm>
            <a:off x="609480" y="1751040"/>
            <a:ext cx="10972440" cy="4728960"/>
          </a:xfrm>
          <a:prstGeom prst="roundRect">
            <a:avLst>
              <a:gd name="adj" fmla="val 4768"/>
            </a:avLst>
          </a:prstGeom>
          <a:solidFill>
            <a:srgbClr val="0F172A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Google Shape;311;p29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INTERFACE SEGREGATION PRINCIPLE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Google Shape;312;p29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Aplicação no Código (Segregação de Interfaces)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Google Shape;313;p29"/>
          <p:cNvSpPr/>
          <p:nvPr/>
        </p:nvSpPr>
        <p:spPr>
          <a:xfrm>
            <a:off x="1028880" y="2109600"/>
            <a:ext cx="10134360" cy="38404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latin typeface="JetBrains Mono"/>
                <a:ea typeface="JetBrains Mono"/>
              </a:rPr>
              <a:t>// Interfaces Específicas e Separadas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ISalario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IBeneficios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getBeneficios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latin typeface="JetBrains Mono"/>
                <a:ea typeface="JetBrains Mono"/>
              </a:rPr>
              <a:t>// Empregado contratado recebe tanto salário quanto benefícios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EmpregadoCLT implements ISalario, IBeneficio 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private</a:t>
            </a:r>
            <a:r>
              <a:rPr lang="en-US" sz="1200" b="0" u="none" strike="noStrike">
                <a:solidFill>
                  <a:srgbClr val="FF000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salario: </a:t>
            </a:r>
            <a:r>
              <a:rPr lang="en-US" sz="1200" b="0" u="none" strike="noStrike">
                <a:solidFill>
                  <a:srgbClr val="FBBF24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ISalario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IBeneficios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getBeneficios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class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ContratadoPJ implements ISalario 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 lvl="5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     private 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salario: </a:t>
            </a:r>
            <a:r>
              <a:rPr lang="en-US" sz="1200" b="0" u="none" strike="noStrike">
                <a:solidFill>
                  <a:srgbClr val="FBBF24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3F5E"/>
                </a:solidFill>
                <a:latin typeface="JetBrains Mono"/>
                <a:ea typeface="JetBrains Mono"/>
              </a:rPr>
              <a:t>interface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ISalario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{ </a:t>
            </a:r>
            <a:r>
              <a:rPr lang="en-US" sz="1200" b="0" u="none" strike="noStrike">
                <a:solidFill>
                  <a:srgbClr val="38BDF8"/>
                </a:solidFill>
                <a:latin typeface="JetBrains Mono"/>
                <a:ea typeface="JetBrains Mono"/>
              </a:rPr>
              <a:t>getSalario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(val: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number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): </a:t>
            </a:r>
            <a:r>
              <a:rPr lang="en-US" sz="1200" b="0" u="none" strike="noStrike">
                <a:solidFill>
                  <a:srgbClr val="FBBF24"/>
                </a:solidFill>
                <a:latin typeface="JetBrains Mono"/>
                <a:ea typeface="JetBrains Mono"/>
              </a:rPr>
              <a:t>void</a:t>
            </a: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; }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2E8F0"/>
                </a:solidFill>
                <a:highlight>
                  <a:srgbClr val="0F172A"/>
                </a:highlight>
                <a:latin typeface="JetBrains Mono"/>
                <a:ea typeface="JetBrains Mono"/>
              </a:rPr>
              <a:t>}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318;p30"/>
          <p:cNvSpPr/>
          <p:nvPr/>
        </p:nvSpPr>
        <p:spPr>
          <a:xfrm>
            <a:off x="609480" y="2946240"/>
            <a:ext cx="3504960" cy="1898640"/>
          </a:xfrm>
          <a:prstGeom prst="roundRect">
            <a:avLst>
              <a:gd name="adj" fmla="val 6018"/>
            </a:avLst>
          </a:prstGeom>
          <a:solidFill>
            <a:srgbClr val="F5F3FF"/>
          </a:solidFill>
          <a:ln w="9525">
            <a:solidFill>
              <a:srgbClr val="DDD6F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Google Shape;319;p30"/>
          <p:cNvSpPr/>
          <p:nvPr/>
        </p:nvSpPr>
        <p:spPr>
          <a:xfrm>
            <a:off x="4343400" y="2946240"/>
            <a:ext cx="3504960" cy="1898640"/>
          </a:xfrm>
          <a:prstGeom prst="roundRect">
            <a:avLst>
              <a:gd name="adj" fmla="val 6985"/>
            </a:avLst>
          </a:prstGeom>
          <a:solidFill>
            <a:srgbClr val="F0FDF4"/>
          </a:solidFill>
          <a:ln w="9525">
            <a:solidFill>
              <a:srgbClr val="BBF7D0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Google Shape;320;p30"/>
          <p:cNvSpPr/>
          <p:nvPr/>
        </p:nvSpPr>
        <p:spPr>
          <a:xfrm>
            <a:off x="8077320" y="2946240"/>
            <a:ext cx="3504960" cy="1898640"/>
          </a:xfrm>
          <a:prstGeom prst="roundRect">
            <a:avLst>
              <a:gd name="adj" fmla="val 6985"/>
            </a:avLst>
          </a:prstGeom>
          <a:solidFill>
            <a:srgbClr val="FFF1F2"/>
          </a:solidFill>
          <a:ln w="9525">
            <a:solidFill>
              <a:srgbClr val="FECDD3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Shape;321;p30"/>
          <p:cNvSpPr/>
          <p:nvPr/>
        </p:nvSpPr>
        <p:spPr>
          <a:xfrm>
            <a:off x="2228760" y="3593880"/>
            <a:ext cx="1028520" cy="218880"/>
          </a:xfrm>
          <a:prstGeom prst="roundRect">
            <a:avLst>
              <a:gd name="adj" fmla="val 17391"/>
            </a:avLst>
          </a:prstGeom>
          <a:solidFill>
            <a:srgbClr val="EDE9FE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Google Shape;322;p30"/>
          <p:cNvSpPr/>
          <p:nvPr/>
        </p:nvSpPr>
        <p:spPr>
          <a:xfrm>
            <a:off x="2390760" y="3847320"/>
            <a:ext cx="1211400" cy="218880"/>
          </a:xfrm>
          <a:prstGeom prst="roundRect">
            <a:avLst>
              <a:gd name="adj" fmla="val 17391"/>
            </a:avLst>
          </a:prstGeom>
          <a:solidFill>
            <a:srgbClr val="EDE9FE"/>
          </a:solidFill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2" name="Google Shape;323;p30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5960" y="3260520"/>
            <a:ext cx="14256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oogle Shape;324;p30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619520" y="3239280"/>
            <a:ext cx="19008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Google Shape;325;p30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353440" y="3242520"/>
            <a:ext cx="2376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Google Shape;326;p30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INTERFACE SEGREGATION PRINCIPLE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Google Shape;327;p30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Explicação &amp; Trade-offs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Google Shape;328;p30"/>
          <p:cNvSpPr/>
          <p:nvPr/>
        </p:nvSpPr>
        <p:spPr>
          <a:xfrm>
            <a:off x="885960" y="3218760"/>
            <a:ext cx="295272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1924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D28D9"/>
                </a:solidFill>
                <a:latin typeface="Plus Jakarta Sans"/>
                <a:ea typeface="Plus Jakarta Sans"/>
              </a:rPr>
              <a:t>Explicação Prática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Google Shape;329;p30"/>
          <p:cNvSpPr/>
          <p:nvPr/>
        </p:nvSpPr>
        <p:spPr>
          <a:xfrm>
            <a:off x="885960" y="3574800"/>
            <a:ext cx="3047760" cy="10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B21B6"/>
                </a:solidFill>
                <a:highlight>
                  <a:srgbClr val="F5F3FF"/>
                </a:highlight>
                <a:latin typeface="Plus Jakarta Sans"/>
                <a:ea typeface="Plus Jakarta Sans"/>
              </a:rPr>
              <a:t>O caixa eletrônico </a:t>
            </a:r>
            <a:r>
              <a:rPr lang="en-US" sz="1200" b="0" u="none" strike="noStrike">
                <a:solidFill>
                  <a:srgbClr val="5B21B6"/>
                </a:solidFill>
                <a:highlight>
                  <a:srgbClr val="EDE9FE"/>
                </a:highlight>
                <a:latin typeface="Roboto Mono"/>
                <a:ea typeface="Roboto Mono"/>
              </a:rPr>
              <a:t>ATMService</a:t>
            </a:r>
            <a:r>
              <a:rPr lang="en-US" sz="1200" b="0" u="none" strike="noStrike">
                <a:solidFill>
                  <a:srgbClr val="5B21B6"/>
                </a:solidFill>
                <a:highlight>
                  <a:srgbClr val="F5F3FF"/>
                </a:highlight>
                <a:latin typeface="Plus Jakarta Sans"/>
                <a:ea typeface="Plus Jakarta Sans"/>
              </a:rPr>
              <a:t> depende apenas de </a:t>
            </a:r>
            <a:r>
              <a:rPr lang="en-US" sz="1200" b="0" u="none" strike="noStrike">
                <a:solidFill>
                  <a:srgbClr val="5B21B6"/>
                </a:solidFill>
                <a:highlight>
                  <a:srgbClr val="EDE9FE"/>
                </a:highlight>
                <a:latin typeface="Roboto Mono"/>
                <a:ea typeface="Roboto Mono"/>
              </a:rPr>
              <a:t>Withdrawable</a:t>
            </a:r>
            <a:r>
              <a:rPr lang="en-US" sz="1200" b="0" u="none" strike="noStrike">
                <a:solidFill>
                  <a:srgbClr val="5B21B6"/>
                </a:solidFill>
                <a:highlight>
                  <a:srgbClr val="F5F3FF"/>
                </a:highlight>
                <a:latin typeface="Plus Jakarta Sans"/>
                <a:ea typeface="Plus Jakarta Sans"/>
              </a:rPr>
              <a:t>, ficando isolado das operações de depósito ou investimento.</a:t>
            </a:r>
            <a:r>
              <a:rPr lang="en-US" sz="1100" b="0" u="none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pt-BR" sz="1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Google Shape;330;p30"/>
          <p:cNvSpPr/>
          <p:nvPr/>
        </p:nvSpPr>
        <p:spPr>
          <a:xfrm>
            <a:off x="4619520" y="3218760"/>
            <a:ext cx="231084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26676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latin typeface="Plus Jakarta Sans"/>
                <a:ea typeface="Plus Jakarta Sans"/>
              </a:rPr>
              <a:t>Vantagens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Google Shape;331;p30"/>
          <p:cNvSpPr/>
          <p:nvPr/>
        </p:nvSpPr>
        <p:spPr>
          <a:xfrm>
            <a:off x="4572000" y="356868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4532D"/>
                </a:solidFill>
                <a:latin typeface="Plus Jakarta Sans"/>
                <a:ea typeface="Plus Jakarta Sans"/>
              </a:rPr>
              <a:t>Código limpo, reutilização simplificada e facilidade para criar mocks em testes unitários.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Google Shape;332;p30"/>
          <p:cNvSpPr/>
          <p:nvPr/>
        </p:nvSpPr>
        <p:spPr>
          <a:xfrm>
            <a:off x="8353440" y="3240360"/>
            <a:ext cx="2952720" cy="2307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31428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E123C"/>
                </a:solidFill>
                <a:latin typeface="Plus Jakarta Sans"/>
                <a:ea typeface="Plus Jakarta Sans"/>
              </a:rPr>
              <a:t>Trade-offs</a:t>
            </a:r>
            <a:endParaRPr lang="pt-BR" sz="15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Google Shape;333;p30"/>
          <p:cNvSpPr/>
          <p:nvPr/>
        </p:nvSpPr>
        <p:spPr>
          <a:xfrm>
            <a:off x="8305920" y="3568680"/>
            <a:ext cx="304776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6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81337"/>
                </a:solidFill>
                <a:latin typeface="Plus Jakarta Sans"/>
                <a:ea typeface="Plus Jakarta Sans"/>
              </a:rPr>
              <a:t>Criação de um número maior de interfaces pequenas no projeto, exigindo organização criteriosa.</a:t>
            </a:r>
            <a:endParaRPr lang="pt-BR" sz="1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1314450"/>
            <a:ext cx="3530649" cy="5086350"/>
          </a:xfrm>
          <a:prstGeom prst="roundRect">
            <a:avLst>
              <a:gd name="adj" fmla="val 4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5374183"/>
            <a:ext cx="3054399" cy="788491"/>
          </a:xfrm>
          <a:prstGeom prst="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5374183"/>
            <a:ext cx="3054399" cy="788491"/>
          </a:xfrm>
          <a:prstGeom prst="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5374183"/>
            <a:ext cx="3054399" cy="788491"/>
          </a:xfrm>
          <a:prstGeom prst="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5374183"/>
            <a:ext cx="38100" cy="788491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68874" y="5374183"/>
            <a:ext cx="38100" cy="788491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024" y="5374183"/>
            <a:ext cx="38100" cy="788491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7725" y="1566862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68874" y="1566862"/>
            <a:ext cx="19050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290024" y="1566862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725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"Existe um número limite ideal de métodos para uma interface não violar o ISP?"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125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BE123C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BE123C"/>
                </a:solidFill>
                <a:latin typeface="Plus Jakarta Sans"/>
              </a:rPr>
              <a:t> Não há número fixo. Depende da coesão do papel. Idealmente de 1 a 3 métodos focados.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87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"Segregar demais não gera poluição de arquivos e interfaces minúsculas?"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127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BE123C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BE123C"/>
                </a:solidFill>
                <a:latin typeface="Plus Jakarta Sans"/>
              </a:rPr>
              <a:t> O custo de gerenciar arquivos é menor que o custo de acoplamento e métodos vazios.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0024" y="1885950"/>
            <a:ext cx="31496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334155"/>
                </a:solidFill>
                <a:latin typeface="Plus Jakarta Sans"/>
              </a:rPr>
              <a:t>"Faz sentido falar de ISP em Python ou JS que não têm interfaces explícitas?"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2424" y="5488483"/>
            <a:ext cx="2882949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BE123C"/>
                </a:solidFill>
                <a:latin typeface="Plus Jakarta Sans"/>
              </a:rPr>
              <a:t>Resposta:</a:t>
            </a:r>
            <a:r>
              <a:rPr sz="1050" b="0" i="0" u="none">
                <a:solidFill>
                  <a:srgbClr val="BE123C"/>
                </a:solidFill>
                <a:latin typeface="Plus Jakarta Sans"/>
              </a:rPr>
              <a:t> Sim via Duck Typing, Protocol (Python) ou Interfaces no TypeScript para contratos de cliente.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475" y="1552575"/>
            <a:ext cx="211276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Quantos Métodos?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4624" y="1552575"/>
            <a:ext cx="187523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Muitas Interfaces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5774" y="1552575"/>
            <a:ext cx="245030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Linguagens Dinâmicas</a:t>
            </a:r>
          </a:p>
        </p:txBody>
      </p:sp>
      <p:sp>
        <p:nvSpPr>
          <p:cNvPr id="28" name="Google Shape;326;p30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INTERFACE SEGREGATION PRINCIPLE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oogle Shape;327;p30"/>
          <p:cNvSpPr/>
          <p:nvPr/>
        </p:nvSpPr>
        <p:spPr>
          <a:xfrm>
            <a:off x="609480" y="704880"/>
            <a:ext cx="1158192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tabLst>
                <a:tab pos="0" algn="l"/>
              </a:tabLst>
            </a:pPr>
            <a:r>
              <a:rPr lang="en-US" sz="2400" b="1">
                <a:solidFill>
                  <a:srgbClr val="0F172A"/>
                </a:solidFill>
                <a:latin typeface="Plus Jakarta Sans"/>
              </a:rPr>
              <a:t>Interface Segregation Principle: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Perguntas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 </a:t>
            </a:r>
            <a:r>
              <a:rPr lang="en-US" sz="2400" b="1">
                <a:solidFill>
                  <a:srgbClr val="0F172A"/>
                </a:solidFill>
                <a:latin typeface="Plus Jakarta Sans"/>
              </a:rPr>
              <a:t>Frequentes</a:t>
            </a:r>
            <a:endParaRPr lang="en-US" sz="2400">
              <a:solidFill>
                <a:srgbClr val="000000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338;p31"/>
          <p:cNvGraphicFramePr>
            <a:graphicFrameLocks noGrp="1"/>
          </p:cNvGraphicFramePr>
          <p:nvPr/>
        </p:nvGraphicFramePr>
        <p:xfrm>
          <a:off x="609480" y="2571840"/>
          <a:ext cx="10972080" cy="2570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94520"/>
                <a:gridCol w="2782080"/>
                <a:gridCol w="3357360"/>
                <a:gridCol w="3138120"/>
              </a:tblGrid>
              <a:tr h="514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</a:rPr>
                        <a:t>Tema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</a:rPr>
                        <a:t>Objetivo Principal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</a:rPr>
                        <a:t>Principal Benefício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</a:rPr>
                        <a:t>Custo / Atenção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14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563EB"/>
                          </a:solidFill>
                          <a:latin typeface="Plus Jakarta Sans"/>
                          <a:ea typeface="Plus Jakarta Sans"/>
                        </a:rPr>
                        <a:t>Encapsulamento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Proteger estado interno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Integridade dos dados de domínio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Verbosidade de métodos de acesso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284C7"/>
                          </a:solidFill>
                          <a:latin typeface="Plus Jakarta Sans"/>
                          <a:ea typeface="Plus Jakarta Sans"/>
                        </a:rPr>
                        <a:t>Chain of Resp.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Encadear handlers de requisição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Desacoplamento e fluxo dinâmico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Risco de requisições sem tratamento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D9488"/>
                          </a:solidFill>
                          <a:latin typeface="Plus Jakarta Sans"/>
                          <a:ea typeface="Plus Jakarta Sans"/>
                        </a:rPr>
                        <a:t>Command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Encapsular ações como objetos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Suporte nativo a Undo/Redo e filas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Alta quantidade de novas classes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7C3AED"/>
                          </a:solidFill>
                          <a:latin typeface="Plus Jakarta Sans"/>
                          <a:ea typeface="Plus Jakarta Sans"/>
                        </a:rPr>
                        <a:t>ISP (SOLID)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Segregar interfaces por papel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Contratos magros e acoplamento baixo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475569"/>
                          </a:solidFill>
                          <a:latin typeface="Plus Jakarta Sans"/>
                          <a:ea typeface="Plus Jakarta Sans"/>
                        </a:rPr>
                        <a:t>Gerenciamento de muitas interfaces</a:t>
                      </a:r>
                      <a:endParaRPr lang="pt-BR" sz="113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4" name="Google Shape;339;p31"/>
          <p:cNvSpPr/>
          <p:nvPr/>
        </p:nvSpPr>
        <p:spPr>
          <a:xfrm>
            <a:off x="609480" y="457200"/>
            <a:ext cx="115819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563EB"/>
                </a:solidFill>
                <a:latin typeface="Plus Jakarta Sans"/>
                <a:ea typeface="Plus Jakarta Sans"/>
              </a:rPr>
              <a:t>SÍNTESE COMPARATIVA</a:t>
            </a:r>
            <a:endParaRPr lang="pt-BR" sz="10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Google Shape;340;p31"/>
          <p:cNvSpPr/>
          <p:nvPr/>
        </p:nvSpPr>
        <p:spPr>
          <a:xfrm>
            <a:off x="609480" y="704880"/>
            <a:ext cx="1158192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F172A"/>
                </a:solidFill>
                <a:latin typeface="Plus Jakarta Sans"/>
                <a:ea typeface="Plus Jakarta Sans"/>
              </a:rPr>
              <a:t>Resumo dos Conceitos Analisados</a:t>
            </a:r>
            <a:endParaRPr lang="pt-BR" sz="2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345;p32" descr="imag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2600" y="2395440"/>
            <a:ext cx="466200" cy="53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Google Shape;346;p32"/>
          <p:cNvSpPr/>
          <p:nvPr/>
        </p:nvSpPr>
        <p:spPr>
          <a:xfrm>
            <a:off x="4558320" y="3157560"/>
            <a:ext cx="3075120" cy="58068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8FAFC"/>
                </a:solidFill>
                <a:latin typeface="Plus Jakarta Sans"/>
                <a:ea typeface="Plus Jakarta Sans"/>
              </a:rPr>
              <a:t>Obrigado!</a:t>
            </a:r>
            <a:endParaRPr lang="pt-BR" sz="36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Google Shape;347;p32"/>
          <p:cNvSpPr/>
          <p:nvPr/>
        </p:nvSpPr>
        <p:spPr>
          <a:xfrm>
            <a:off x="2523960" y="3890880"/>
            <a:ext cx="71434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latin typeface="Plus Jakarta Sans"/>
                <a:ea typeface="Plus Jakarta Sans"/>
              </a:rPr>
              <a:t>Perguntas ou discussões sobre a aplicação desses padrões no seu projeto?</a:t>
            </a:r>
            <a:endParaRPr lang="pt-BR" sz="15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</a:gradFill>
      </a:fillStyleLst>
      <a:lnStyleLst>
        <a:ln w="9525" cap="flat" cmpd="sng">
          <a:solidFill>
            <a:schemeClr val="phClr"/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25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32</cp:revision>
  <dcterms:modified xsi:type="dcterms:W3CDTF">2026-10-27T19:07:35Z</dcterms:modified>
</cp:coreProperties>
</file>